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80" r:id="rId2"/>
    <p:sldId id="281" r:id="rId3"/>
    <p:sldId id="282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</p:sldIdLst>
  <p:sldSz cx="18288000" cy="10287000"/>
  <p:notesSz cx="6858000" cy="9144000"/>
  <p:embeddedFontLst>
    <p:embeddedFont>
      <p:font typeface="Manrope" panose="020B0604020202020204" charset="0"/>
      <p:regular r:id="rId21"/>
      <p:bold r:id="rId22"/>
    </p:embeddedFont>
    <p:embeddedFont>
      <p:font typeface="Public Sans" panose="020B0604020202020204" charset="0"/>
      <p:regular r:id="rId23"/>
    </p:embeddedFont>
    <p:embeddedFont>
      <p:font typeface="Public Sans Bold" panose="020B0604020202020204" charset="0"/>
      <p:regular r:id="rId24"/>
    </p:embeddedFont>
    <p:embeddedFont>
      <p:font typeface="Thang Long Sans" panose="020B060402020202020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FF"/>
    <a:srgbClr val="5353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2A272-B834-44AF-BC8F-267F09ABC79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7B1EA-CB78-4537-A8E8-0774CB740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60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7B1EA-CB78-4537-A8E8-0774CB7407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56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7"/>
          <p:cNvSpPr txBox="1">
            <a:spLocks noGrp="1"/>
          </p:cNvSpPr>
          <p:nvPr>
            <p:ph type="body" idx="1"/>
          </p:nvPr>
        </p:nvSpPr>
        <p:spPr>
          <a:xfrm>
            <a:off x="882795" y="914400"/>
            <a:ext cx="248905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1" i="0" u="none" strike="noStrike" cap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716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0574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7432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429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1148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8006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4864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1722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7"/>
          <p:cNvSpPr txBox="1">
            <a:spLocks noGrp="1"/>
          </p:cNvSpPr>
          <p:nvPr>
            <p:ph type="body" idx="2"/>
          </p:nvPr>
        </p:nvSpPr>
        <p:spPr>
          <a:xfrm>
            <a:off x="883446" y="5554460"/>
            <a:ext cx="7160418" cy="2668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350" b="0" i="0" u="none" strike="noStrike" cap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716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0574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7432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429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1148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8006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4864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1722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" name="Google Shape;1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327920"/>
            <a:ext cx="18288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56832" y="-1"/>
            <a:ext cx="3731168" cy="932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7"/>
          <p:cNvSpPr txBox="1">
            <a:spLocks noGrp="1"/>
          </p:cNvSpPr>
          <p:nvPr>
            <p:ph type="body" idx="3"/>
          </p:nvPr>
        </p:nvSpPr>
        <p:spPr>
          <a:xfrm>
            <a:off x="882796" y="9644580"/>
            <a:ext cx="3494483" cy="35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3716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0574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7432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429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1148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8006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4864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1722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3755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71F1B-2C3E-4792-9E3C-C511719790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2795" y="914400"/>
            <a:ext cx="2489055" cy="514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 b="1">
                <a:solidFill>
                  <a:srgbClr val="000066"/>
                </a:solidFill>
                <a:latin typeface="+mj-lt"/>
              </a:defRPr>
            </a:lvl1pPr>
          </a:lstStyle>
          <a:p>
            <a:pPr lvl="0"/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E3E590-C358-4A28-90E7-20A56BA3BC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3446" y="5554460"/>
            <a:ext cx="7160418" cy="26689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350">
                <a:solidFill>
                  <a:srgbClr val="000066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 err="1">
                <a:effectLst/>
              </a:rPr>
              <a:t>Chỉnh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nội</a:t>
            </a:r>
            <a:r>
              <a:rPr lang="en-US" dirty="0">
                <a:effectLst/>
              </a:rPr>
              <a:t> dung </a:t>
            </a:r>
            <a:r>
              <a:rPr lang="en-US" dirty="0" err="1">
                <a:effectLst/>
              </a:rPr>
              <a:t>văn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bản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tại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đây</a:t>
            </a:r>
            <a:br>
              <a:rPr lang="vi-VN" dirty="0">
                <a:effectLst/>
              </a:rPr>
            </a:br>
            <a:br>
              <a:rPr lang="vi-VN" dirty="0">
                <a:effectLst/>
              </a:rPr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B1BC86-AE58-452D-B4A9-0DC0D2A637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327920"/>
            <a:ext cx="18288000" cy="952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6B6AC0-D20C-4AE7-89BD-E88C672006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556832" y="-1"/>
            <a:ext cx="3731168" cy="932792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A3836E6-5924-4446-859B-AB15C3E248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96" y="9644580"/>
            <a:ext cx="3494483" cy="3566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 b="1">
                <a:solidFill>
                  <a:schemeClr val="bg1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>
                <a:effectLst/>
              </a:rPr>
              <a:t>Presentation Title</a:t>
            </a:r>
            <a:br>
              <a:rPr lang="vi-VN" dirty="0">
                <a:effectLst/>
              </a:rPr>
            </a:br>
            <a:br>
              <a:rPr lang="vi-V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747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228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FEDB42D-8263-4756-B4AE-9EEF4E8EF9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327920"/>
            <a:ext cx="18288000" cy="952500"/>
          </a:xfrm>
          <a:prstGeom prst="rect">
            <a:avLst/>
          </a:prstGeom>
        </p:spPr>
      </p:pic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793A41F-55D7-4DD7-8E5C-1B96A19E05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96" y="9644580"/>
            <a:ext cx="3494483" cy="3566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 b="1">
                <a:solidFill>
                  <a:schemeClr val="bg1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>
                <a:effectLst/>
              </a:rPr>
              <a:t>Presentation Title</a:t>
            </a:r>
            <a:br>
              <a:rPr lang="vi-VN" dirty="0">
                <a:effectLst/>
              </a:rPr>
            </a:br>
            <a:br>
              <a:rPr lang="vi-VN" dirty="0">
                <a:effectLst/>
              </a:rPr>
            </a:br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75CCCCC-A56E-4E3B-9F81-AF10A1C23B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2794" y="914400"/>
            <a:ext cx="4217843" cy="514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 b="1">
                <a:solidFill>
                  <a:srgbClr val="000066"/>
                </a:solidFill>
                <a:latin typeface="+mj-lt"/>
              </a:defRPr>
            </a:lvl1pPr>
          </a:lstStyle>
          <a:p>
            <a:pPr lvl="0"/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trang</a:t>
            </a:r>
            <a:endParaRPr lang="en-US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A8BD63AC-E162-44FE-AB40-257214D183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4384" y="2639810"/>
            <a:ext cx="7160418" cy="15321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350">
                <a:solidFill>
                  <a:srgbClr val="000066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 err="1">
                <a:effectLst/>
              </a:rPr>
              <a:t>Chỉnh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nội</a:t>
            </a:r>
            <a:r>
              <a:rPr lang="en-US" dirty="0">
                <a:effectLst/>
              </a:rPr>
              <a:t> dung </a:t>
            </a:r>
            <a:r>
              <a:rPr lang="en-US" dirty="0" err="1">
                <a:effectLst/>
              </a:rPr>
              <a:t>tại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đây</a:t>
            </a:r>
            <a:br>
              <a:rPr lang="vi-VN" dirty="0">
                <a:effectLst/>
              </a:rPr>
            </a:br>
            <a:endParaRPr lang="en-US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50171DD-8B10-48BB-9D3B-1E2BBBC7B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4384" y="2210665"/>
            <a:ext cx="2059779" cy="42914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350" b="1">
                <a:solidFill>
                  <a:srgbClr val="000066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>
                <a:effectLst/>
              </a:rPr>
              <a:t>Sub - heading</a:t>
            </a:r>
            <a:br>
              <a:rPr lang="vi-VN" dirty="0">
                <a:effectLst/>
              </a:rPr>
            </a:br>
            <a:br>
              <a:rPr lang="vi-VN" dirty="0">
                <a:effectLst/>
              </a:rPr>
            </a:br>
            <a:endParaRPr lang="en-US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A938036F-B026-4F45-8E8F-0711D26F91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4384" y="4815668"/>
            <a:ext cx="6860379" cy="15321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350">
                <a:solidFill>
                  <a:srgbClr val="000066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 err="1">
                <a:effectLst/>
              </a:rPr>
              <a:t>Chỉnh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nội</a:t>
            </a:r>
            <a:r>
              <a:rPr lang="en-US" dirty="0">
                <a:effectLst/>
              </a:rPr>
              <a:t> dung </a:t>
            </a:r>
            <a:r>
              <a:rPr lang="en-US" dirty="0" err="1">
                <a:effectLst/>
              </a:rPr>
              <a:t>tại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đây</a:t>
            </a:r>
            <a:br>
              <a:rPr lang="vi-VN" dirty="0">
                <a:effectLst/>
              </a:rPr>
            </a:br>
            <a:endParaRPr lang="en-US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47C9DB3D-38B7-4903-B12A-1FB1FB5ECC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4384" y="4386523"/>
            <a:ext cx="2059779" cy="42914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350" b="1">
                <a:solidFill>
                  <a:srgbClr val="000066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>
                <a:effectLst/>
              </a:rPr>
              <a:t>Sub - heading</a:t>
            </a:r>
            <a:br>
              <a:rPr lang="vi-VN" dirty="0">
                <a:effectLst/>
              </a:rPr>
            </a:br>
            <a:br>
              <a:rPr lang="vi-VN" dirty="0">
                <a:effectLst/>
              </a:rPr>
            </a:br>
            <a:endParaRPr lang="en-US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5620C405-DAF4-4F60-902C-6C3BFD9E1B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4383" y="6991526"/>
            <a:ext cx="7031829" cy="15321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350">
                <a:solidFill>
                  <a:srgbClr val="000066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 err="1">
                <a:effectLst/>
              </a:rPr>
              <a:t>Chỉnh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nội</a:t>
            </a:r>
            <a:r>
              <a:rPr lang="en-US" dirty="0">
                <a:effectLst/>
              </a:rPr>
              <a:t> dung </a:t>
            </a:r>
            <a:r>
              <a:rPr lang="en-US" dirty="0" err="1">
                <a:effectLst/>
              </a:rPr>
              <a:t>tại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đây</a:t>
            </a:r>
            <a:br>
              <a:rPr lang="vi-VN" dirty="0">
                <a:effectLst/>
              </a:rPr>
            </a:b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836230CF-AC9A-4A03-975A-2ADDE16399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4384" y="6562381"/>
            <a:ext cx="2059779" cy="42914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350" b="1">
                <a:solidFill>
                  <a:srgbClr val="000066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>
                <a:effectLst/>
              </a:rPr>
              <a:t>Sub - heading</a:t>
            </a:r>
            <a:br>
              <a:rPr lang="vi-VN" dirty="0">
                <a:effectLst/>
              </a:rPr>
            </a:br>
            <a:br>
              <a:rPr lang="vi-V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369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A0F62B-46BA-435C-B581-6BAEB6EB5567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B21AF1-741D-4668-9E80-F7C5836778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340389"/>
            <a:ext cx="18288000" cy="9525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64DCB7B-83EE-44F7-8F38-71252736EA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96" y="9644580"/>
            <a:ext cx="3494483" cy="3566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 b="1">
                <a:solidFill>
                  <a:schemeClr val="bg1"/>
                </a:solidFill>
              </a:defRPr>
            </a:lvl1pPr>
            <a:lvl4pPr>
              <a:defRPr/>
            </a:lvl4pPr>
          </a:lstStyle>
          <a:p>
            <a:pPr lvl="0"/>
            <a:r>
              <a:rPr lang="en-US" dirty="0">
                <a:effectLst/>
              </a:rPr>
              <a:t>Presentation Title</a:t>
            </a:r>
            <a:br>
              <a:rPr lang="vi-VN" dirty="0">
                <a:effectLst/>
              </a:rPr>
            </a:br>
            <a:br>
              <a:rPr lang="vi-VN" dirty="0">
                <a:effectLst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9392C-9498-45D9-B273-A2148FC7E2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616248" y="1134"/>
            <a:ext cx="4671755" cy="9348279"/>
          </a:xfrm>
          <a:prstGeom prst="rect">
            <a:avLst/>
          </a:prstGeom>
          <a:ln>
            <a:noFill/>
          </a:ln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CC7DC1B-4F63-422E-BA79-45AD3762DA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2796" y="4741519"/>
            <a:ext cx="2909456" cy="58772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15599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"/>
          <p:cNvSpPr txBox="1">
            <a:spLocks noGrp="1"/>
          </p:cNvSpPr>
          <p:nvPr>
            <p:ph type="body" idx="1"/>
          </p:nvPr>
        </p:nvSpPr>
        <p:spPr>
          <a:xfrm>
            <a:off x="691425" y="2554864"/>
            <a:ext cx="13650750" cy="283676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t" anchorCtr="0">
            <a:noAutofit/>
          </a:bodyPr>
          <a:lstStyle/>
          <a:p>
            <a:pPr marL="0" indent="0" algn="ctr">
              <a:buSzPts val="3400"/>
            </a:pPr>
            <a:r>
              <a:rPr lang="en-US" sz="5100" dirty="0">
                <a:solidFill>
                  <a:srgbClr val="002060"/>
                </a:solidFill>
                <a:latin typeface="Manrope"/>
              </a:rPr>
              <a:t>Website Quản </a:t>
            </a:r>
            <a:r>
              <a:rPr lang="en-US" sz="5100" dirty="0" err="1">
                <a:solidFill>
                  <a:srgbClr val="002060"/>
                </a:solidFill>
                <a:latin typeface="Manrope"/>
              </a:rPr>
              <a:t>lý</a:t>
            </a:r>
            <a:r>
              <a:rPr lang="en-US" sz="5100" dirty="0">
                <a:solidFill>
                  <a:srgbClr val="002060"/>
                </a:solidFill>
                <a:latin typeface="Manrope"/>
              </a:rPr>
              <a:t> Sinh </a:t>
            </a:r>
            <a:r>
              <a:rPr lang="en-US" sz="5100" dirty="0" err="1">
                <a:solidFill>
                  <a:srgbClr val="002060"/>
                </a:solidFill>
                <a:latin typeface="Manrope"/>
              </a:rPr>
              <a:t>viên</a:t>
            </a:r>
            <a:endParaRPr lang="en-US" sz="5100" dirty="0">
              <a:solidFill>
                <a:srgbClr val="002060"/>
              </a:solidFill>
              <a:latin typeface="Manrope"/>
            </a:endParaRPr>
          </a:p>
        </p:txBody>
      </p:sp>
      <p:pic>
        <p:nvPicPr>
          <p:cNvPr id="249" name="Google Shape;2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415" y="535870"/>
            <a:ext cx="3355421" cy="95164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"/>
          <p:cNvSpPr txBox="1"/>
          <p:nvPr/>
        </p:nvSpPr>
        <p:spPr>
          <a:xfrm>
            <a:off x="3581400" y="3695700"/>
            <a:ext cx="10287000" cy="244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r>
              <a:rPr lang="en-US" sz="3000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Giáo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 </a:t>
            </a:r>
            <a:r>
              <a:rPr lang="en-US" sz="3000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viên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 </a:t>
            </a:r>
            <a:r>
              <a:rPr lang="en-US" sz="3000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hướng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 </a:t>
            </a:r>
            <a:r>
              <a:rPr lang="en-US" sz="3000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dẫn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:</a:t>
            </a:r>
            <a:r>
              <a:rPr lang="vi-VN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 Thầy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  <a:t> Nguyễn Hùng Cường</a:t>
            </a:r>
            <a:endParaRPr sz="3000" dirty="0">
              <a:solidFill>
                <a:schemeClr val="tx2">
                  <a:lumMod val="50000"/>
                </a:schemeClr>
              </a:solidFill>
              <a:latin typeface="Manrope" pitchFamily="2" charset="0"/>
            </a:endParaRPr>
          </a:p>
          <a:p>
            <a:r>
              <a:rPr lang="vi-VN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Arial"/>
                <a:sym typeface="Arial"/>
              </a:rPr>
              <a:t>Nhóm thuyết trình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Arial"/>
                <a:sym typeface="Arial"/>
              </a:rPr>
              <a:t>: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A50761 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_Nguyễn Mạnh Hoàng Quân</a:t>
            </a:r>
          </a:p>
          <a:p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                                    </a:t>
            </a:r>
            <a:r>
              <a:rPr lang="vi-VN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       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A50892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_Nguyễn Xuân Đạt</a:t>
            </a:r>
            <a:endParaRPr lang="en-US" sz="3000" dirty="0">
              <a:solidFill>
                <a:schemeClr val="tx2">
                  <a:lumMod val="50000"/>
                </a:schemeClr>
              </a:solidFill>
              <a:latin typeface="Manrope" pitchFamily="2" charset="0"/>
              <a:cs typeface="Manrope"/>
            </a:endParaRPr>
          </a:p>
          <a:p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                                    </a:t>
            </a:r>
            <a:r>
              <a:rPr lang="vi-VN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        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A51153_Hoàng Văn An</a:t>
            </a:r>
          </a:p>
          <a:p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			</a:t>
            </a:r>
            <a:r>
              <a:rPr lang="vi-VN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        </a:t>
            </a:r>
            <a:r>
              <a:rPr lang="en-US" sz="300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cs typeface="Manrope"/>
                <a:sym typeface="Arial"/>
              </a:rPr>
              <a:t>A50926_Trần Anh Quân</a:t>
            </a:r>
            <a:endParaRPr lang="vi-VN" sz="3000" dirty="0">
              <a:solidFill>
                <a:schemeClr val="tx2">
                  <a:lumMod val="50000"/>
                </a:schemeClr>
              </a:solidFill>
              <a:latin typeface="Manrope" pitchFamily="2" charset="0"/>
              <a:cs typeface="Manrope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9CC4C8-728E-4465-9DE8-325395CCF4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5" y="514350"/>
            <a:ext cx="5670405" cy="2552700"/>
          </a:xfrm>
        </p:spPr>
        <p:txBody>
          <a:bodyPr vert="horz" lIns="137160" tIns="68580" rIns="137160" bIns="68580" rtlCol="0" anchor="t">
            <a:normAutofit/>
          </a:bodyPr>
          <a:lstStyle/>
          <a:p>
            <a:r>
              <a:rPr lang="en-US" sz="6000" dirty="0" err="1">
                <a:latin typeface="Thang Long Sans" pitchFamily="50" charset="0"/>
                <a:cs typeface="Thang Long Sans" pitchFamily="50" charset="0"/>
              </a:rPr>
              <a:t>Lời</a:t>
            </a:r>
            <a:r>
              <a:rPr lang="en-US" sz="60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6000" dirty="0" err="1">
                <a:latin typeface="Thang Long Sans" pitchFamily="50" charset="0"/>
                <a:cs typeface="Thang Long Sans" pitchFamily="50" charset="0"/>
              </a:rPr>
              <a:t>mở</a:t>
            </a:r>
            <a:r>
              <a:rPr lang="en-US" sz="60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6000" dirty="0" err="1">
                <a:latin typeface="Thang Long Sans" pitchFamily="50" charset="0"/>
                <a:cs typeface="Thang Long Sans" pitchFamily="50" charset="0"/>
              </a:rPr>
              <a:t>đầu</a:t>
            </a:r>
            <a:endParaRPr lang="en-US" sz="60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5AFA0-3AE2-442A-BC3F-F9012C0452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2795" y="1790700"/>
            <a:ext cx="13290405" cy="7467600"/>
          </a:xfrm>
        </p:spPr>
        <p:txBody>
          <a:bodyPr vert="horz" lIns="137160" tIns="68580" rIns="137160" bIns="68580" rtlCol="0" anchor="t">
            <a:normAutofit fontScale="92500" lnSpcReduction="10000"/>
          </a:bodyPr>
          <a:lstStyle/>
          <a:p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Trong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thời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đại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nghệ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4.0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phát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triển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mạnh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mẽ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việc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xây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dựng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một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hệ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thống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lý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sinh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viên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không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chỉ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một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xu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hướng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mà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còn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nhu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cầu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cần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thiết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đối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với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các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trường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học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cơ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sở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giáo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dục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. Công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nghệ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tin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ngày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càng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đóng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vai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trò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quan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trọng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trong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tác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lý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giúp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tối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ưu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hóa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quy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trình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lưu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trữ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xử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lý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tra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cứu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tin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sinh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viên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một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cách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nhanh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chóng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chính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xác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.</a:t>
            </a:r>
          </a:p>
          <a:p>
            <a:endParaRPr lang="en-US" sz="2400" b="1" spc="15" dirty="0">
              <a:solidFill>
                <a:schemeClr val="tx2">
                  <a:lumMod val="50000"/>
                </a:schemeClr>
              </a:solidFill>
              <a:latin typeface="Manrope" pitchFamily="2" charset="0"/>
            </a:endParaRPr>
          </a:p>
          <a:p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Bên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cạnh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đó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sự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phát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triển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của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Internet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các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hệ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thống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lý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trực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tuyến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đã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tạo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điều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kiện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thuận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lợi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cho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việc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lý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dữ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liệu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sinh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viên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trở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nên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hiệu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hơn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. Thay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vì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thực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hiện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thủ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bằng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giấy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tờ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truyền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thống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các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trường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học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có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thể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ứng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dụng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hệ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thống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lý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sinh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viên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để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theo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dõi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tin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cá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nhân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kết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học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tập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lớp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học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điểm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danh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nhiều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hoạt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động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khác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một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cách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khoa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học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tiện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lợi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.</a:t>
            </a:r>
          </a:p>
          <a:p>
            <a:endParaRPr lang="en-US" sz="2400" b="1" spc="15" dirty="0">
              <a:solidFill>
                <a:schemeClr val="tx2">
                  <a:lumMod val="50000"/>
                </a:schemeClr>
              </a:solidFill>
              <a:latin typeface="Manrope" pitchFamily="2" charset="0"/>
              <a:sym typeface="Public Sans Bold"/>
            </a:endParaRPr>
          </a:p>
          <a:p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Trong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bối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cảnh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hiện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nay,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việc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xây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dựng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hệ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thống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lý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sinh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viên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không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chỉ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giúp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giảm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bớt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khối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lượng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việc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cho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nhà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trường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mà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còn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nâng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cao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hiệu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quản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lý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tiết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kiệm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thời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gian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và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hỗ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trợ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sinh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viên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tiếp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cận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tin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dễ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dàng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hơn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.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Đồng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thời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hệ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thống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còn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góp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phần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hiện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đại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hóa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môi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trường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giáo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dục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,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đáp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ứng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nhu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cầu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chuyển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đổi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số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trong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thời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đại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công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nghệ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</a:t>
            </a:r>
            <a:r>
              <a:rPr lang="en-US" sz="2400" b="1" spc="15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hiện</a:t>
            </a:r>
            <a:r>
              <a:rPr lang="en-US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sym typeface="Public Sans Bold"/>
              </a:rPr>
              <a:t> nay.</a:t>
            </a:r>
          </a:p>
          <a:p>
            <a:br>
              <a:rPr lang="vi-VN" sz="2400" b="1" spc="15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</a:rPr>
            </a:br>
            <a:endParaRPr lang="en-US" sz="2400" b="1" spc="15" dirty="0">
              <a:solidFill>
                <a:schemeClr val="tx2">
                  <a:lumMod val="50000"/>
                </a:schemeClr>
              </a:solidFill>
              <a:latin typeface="Manrope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64AA9-C1B4-42ED-80B9-021804E54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95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B99258C-6044-5656-F07C-C416281F3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6665"/>
            <a:ext cx="18288000" cy="952500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2ED786F-F3B6-BCAE-061F-39FCE22F87A6}"/>
              </a:ext>
            </a:extLst>
          </p:cNvPr>
          <p:cNvSpPr txBox="1">
            <a:spLocks/>
          </p:cNvSpPr>
          <p:nvPr/>
        </p:nvSpPr>
        <p:spPr>
          <a:xfrm>
            <a:off x="882796" y="9644580"/>
            <a:ext cx="3494483" cy="3566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vi-VN" sz="1200" dirty="0"/>
            </a:br>
            <a:br>
              <a:rPr lang="vi-VN" sz="1200" dirty="0"/>
            </a:b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7846D4-D8AC-FA2C-5C22-2E154377BE5A}"/>
              </a:ext>
            </a:extLst>
          </p:cNvPr>
          <p:cNvSpPr txBox="1"/>
          <p:nvPr/>
        </p:nvSpPr>
        <p:spPr>
          <a:xfrm>
            <a:off x="882794" y="728663"/>
            <a:ext cx="3732069" cy="569387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r>
              <a:rPr lang="en-US" sz="2800" b="1" dirty="0" err="1">
                <a:solidFill>
                  <a:srgbClr val="000066"/>
                </a:solidFill>
                <a:latin typeface="+mj-lt"/>
                <a:cs typeface="Thang Long Sans"/>
              </a:rPr>
              <a:t>Mục</a:t>
            </a:r>
            <a:r>
              <a:rPr lang="en-US" sz="2800" b="1" dirty="0">
                <a:solidFill>
                  <a:srgbClr val="000066"/>
                </a:solidFill>
                <a:latin typeface="+mj-lt"/>
                <a:cs typeface="Thang Long Sans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+mj-lt"/>
                <a:cs typeface="Thang Long Sans"/>
              </a:rPr>
              <a:t>lục</a:t>
            </a:r>
            <a:endParaRPr lang="en-US" sz="2800" b="1" dirty="0">
              <a:solidFill>
                <a:srgbClr val="000066"/>
              </a:solidFill>
              <a:latin typeface="+mj-lt"/>
              <a:cs typeface="Thang Long San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2A0E66-A116-1CC6-990E-AA8ADE17A516}"/>
              </a:ext>
            </a:extLst>
          </p:cNvPr>
          <p:cNvCxnSpPr>
            <a:cxnSpLocks/>
          </p:cNvCxnSpPr>
          <p:nvPr/>
        </p:nvCxnSpPr>
        <p:spPr>
          <a:xfrm>
            <a:off x="6349857" y="1579118"/>
            <a:ext cx="0" cy="200752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186C62C-F1A0-FAD7-7FE7-7736758CA2BF}"/>
              </a:ext>
            </a:extLst>
          </p:cNvPr>
          <p:cNvSpPr txBox="1">
            <a:spLocks/>
          </p:cNvSpPr>
          <p:nvPr/>
        </p:nvSpPr>
        <p:spPr>
          <a:xfrm>
            <a:off x="6756401" y="1005962"/>
            <a:ext cx="2866026" cy="3566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1" kern="1200">
                <a:solidFill>
                  <a:srgbClr val="0044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800" dirty="0"/>
              <a:t>01</a:t>
            </a:r>
            <a:br>
              <a:rPr lang="vi-VN" sz="2800" dirty="0"/>
            </a:br>
            <a:br>
              <a:rPr lang="vi-VN" sz="2800" dirty="0"/>
            </a:br>
            <a:endParaRPr lang="en-US" sz="2800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6DD381EB-3058-F12C-8843-1AF443FDEA0B}"/>
              </a:ext>
            </a:extLst>
          </p:cNvPr>
          <p:cNvSpPr txBox="1">
            <a:spLocks/>
          </p:cNvSpPr>
          <p:nvPr/>
        </p:nvSpPr>
        <p:spPr>
          <a:xfrm>
            <a:off x="6781800" y="2204442"/>
            <a:ext cx="7297592" cy="18061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000" dirty="0">
                <a:latin typeface="Manrope" pitchFamily="2" charset="0"/>
              </a:rPr>
              <a:t>1.1 </a:t>
            </a:r>
            <a:r>
              <a:rPr lang="en-US" sz="2000" dirty="0" err="1">
                <a:latin typeface="Manrope" pitchFamily="2" charset="0"/>
              </a:rPr>
              <a:t>Xác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định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các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tác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nhân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và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chức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năng</a:t>
            </a:r>
            <a:endParaRPr lang="en-US" sz="2000" dirty="0">
              <a:latin typeface="Manrope" pitchFamily="2" charset="0"/>
            </a:endParaRPr>
          </a:p>
          <a:p>
            <a:r>
              <a:rPr lang="vi-VN" sz="2000" dirty="0">
                <a:latin typeface="Manrope" pitchFamily="2" charset="0"/>
              </a:rPr>
              <a:t>1.2 </a:t>
            </a:r>
            <a:r>
              <a:rPr lang="en-US" sz="2000" dirty="0" err="1">
                <a:latin typeface="Manrope" pitchFamily="2" charset="0"/>
              </a:rPr>
              <a:t>Biểu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đồ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phân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rã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chức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năng</a:t>
            </a:r>
            <a:endParaRPr lang="en-US" sz="2000" dirty="0">
              <a:latin typeface="Manrope" pitchFamily="2" charset="0"/>
            </a:endParaRPr>
          </a:p>
          <a:p>
            <a:r>
              <a:rPr lang="vi-VN" sz="2000" dirty="0">
                <a:latin typeface="Manrope" pitchFamily="2" charset="0"/>
              </a:rPr>
              <a:t>1.3 </a:t>
            </a:r>
            <a:r>
              <a:rPr lang="en-US" sz="2000" dirty="0" err="1">
                <a:latin typeface="Manrope" pitchFamily="2" charset="0"/>
              </a:rPr>
              <a:t>Biểu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đồ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Usecase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tổng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quát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CA5FE5-D6EE-8BF6-CF31-B54D2EB9C27F}"/>
              </a:ext>
            </a:extLst>
          </p:cNvPr>
          <p:cNvSpPr txBox="1"/>
          <p:nvPr/>
        </p:nvSpPr>
        <p:spPr>
          <a:xfrm>
            <a:off x="6756400" y="1628590"/>
            <a:ext cx="6068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Phân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tích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thiết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kế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hệ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thống</a:t>
            </a:r>
            <a:endParaRPr lang="en-US" sz="2800" b="1" dirty="0">
              <a:solidFill>
                <a:srgbClr val="000066"/>
              </a:solidFill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373FC2C-D6B4-11C9-6DB6-78885BA0FC3B}"/>
              </a:ext>
            </a:extLst>
          </p:cNvPr>
          <p:cNvSpPr txBox="1">
            <a:spLocks/>
          </p:cNvSpPr>
          <p:nvPr/>
        </p:nvSpPr>
        <p:spPr>
          <a:xfrm>
            <a:off x="2057400" y="4864036"/>
            <a:ext cx="3494483" cy="3566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1" kern="1200">
                <a:solidFill>
                  <a:srgbClr val="0044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800" dirty="0"/>
              <a:t>02</a:t>
            </a:r>
            <a:br>
              <a:rPr lang="vi-VN" sz="2400" dirty="0"/>
            </a:br>
            <a:br>
              <a:rPr lang="vi-VN" sz="2400" dirty="0"/>
            </a:br>
            <a:endParaRPr lang="en-US" sz="24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E5B8E4-0191-2D89-D31A-A3D14C2CD04E}"/>
              </a:ext>
            </a:extLst>
          </p:cNvPr>
          <p:cNvCxnSpPr>
            <a:cxnSpLocks/>
          </p:cNvCxnSpPr>
          <p:nvPr/>
        </p:nvCxnSpPr>
        <p:spPr>
          <a:xfrm>
            <a:off x="1686438" y="5306861"/>
            <a:ext cx="0" cy="200752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8875C3FE-9811-9493-9A08-83ED800C0FC3}"/>
              </a:ext>
            </a:extLst>
          </p:cNvPr>
          <p:cNvSpPr txBox="1">
            <a:spLocks/>
          </p:cNvSpPr>
          <p:nvPr/>
        </p:nvSpPr>
        <p:spPr>
          <a:xfrm>
            <a:off x="2036763" y="5993741"/>
            <a:ext cx="5898075" cy="16551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000" dirty="0">
                <a:latin typeface="Manrope" pitchFamily="2" charset="0"/>
              </a:rPr>
              <a:t>2.1 </a:t>
            </a:r>
            <a:r>
              <a:rPr lang="en-US" sz="2000" dirty="0" err="1">
                <a:latin typeface="Manrope" pitchFamily="2" charset="0"/>
              </a:rPr>
              <a:t>Xây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dựng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các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chức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năng</a:t>
            </a:r>
            <a:endParaRPr lang="en-US" sz="2000" dirty="0">
              <a:latin typeface="Manrope" pitchFamily="2" charset="0"/>
            </a:endParaRPr>
          </a:p>
          <a:p>
            <a:r>
              <a:rPr lang="vi-VN" sz="2000" dirty="0">
                <a:latin typeface="Manrope" pitchFamily="2" charset="0"/>
              </a:rPr>
              <a:t>2.2 </a:t>
            </a:r>
            <a:r>
              <a:rPr lang="en-US" sz="2000" dirty="0" err="1">
                <a:latin typeface="Manrope" pitchFamily="2" charset="0"/>
              </a:rPr>
              <a:t>Thiết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lập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kết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nối</a:t>
            </a:r>
            <a:endParaRPr lang="en-US" sz="2000" dirty="0">
              <a:latin typeface="Manrope" pitchFamily="2" charset="0"/>
            </a:endParaRPr>
          </a:p>
          <a:p>
            <a:r>
              <a:rPr lang="vi-VN" sz="2000" dirty="0">
                <a:latin typeface="Manrope" pitchFamily="2" charset="0"/>
              </a:rPr>
              <a:t>2.3 </a:t>
            </a:r>
            <a:r>
              <a:rPr lang="en-US" sz="2000" dirty="0">
                <a:latin typeface="Manrope" pitchFamily="2" charset="0"/>
              </a:rPr>
              <a:t>Giao </a:t>
            </a:r>
            <a:r>
              <a:rPr lang="en-US" sz="2000" dirty="0" err="1">
                <a:latin typeface="Manrope" pitchFamily="2" charset="0"/>
              </a:rPr>
              <a:t>diện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dự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án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A5C373-02B2-3746-D014-C5F880BEBF73}"/>
              </a:ext>
            </a:extLst>
          </p:cNvPr>
          <p:cNvSpPr txBox="1"/>
          <p:nvPr/>
        </p:nvSpPr>
        <p:spPr>
          <a:xfrm>
            <a:off x="2057400" y="5486663"/>
            <a:ext cx="7477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b="1" dirty="0">
              <a:solidFill>
                <a:srgbClr val="000066"/>
              </a:solidFill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65D2F93A-50C5-8B13-E8A6-1775A99A92FD}"/>
              </a:ext>
            </a:extLst>
          </p:cNvPr>
          <p:cNvSpPr txBox="1">
            <a:spLocks/>
          </p:cNvSpPr>
          <p:nvPr/>
        </p:nvSpPr>
        <p:spPr>
          <a:xfrm>
            <a:off x="12059265" y="4950191"/>
            <a:ext cx="3494483" cy="3566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1" kern="1200">
                <a:solidFill>
                  <a:srgbClr val="0044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800" dirty="0"/>
              <a:t>03</a:t>
            </a:r>
            <a:br>
              <a:rPr lang="vi-VN" sz="2800" dirty="0"/>
            </a:br>
            <a:br>
              <a:rPr lang="vi-VN" sz="2800" dirty="0"/>
            </a:br>
            <a:endParaRPr lang="en-US" sz="28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D44EF7-BFCE-85EF-04C1-3913994606DC}"/>
              </a:ext>
            </a:extLst>
          </p:cNvPr>
          <p:cNvCxnSpPr>
            <a:cxnSpLocks/>
          </p:cNvCxnSpPr>
          <p:nvPr/>
        </p:nvCxnSpPr>
        <p:spPr>
          <a:xfrm>
            <a:off x="11657759" y="5648918"/>
            <a:ext cx="0" cy="200752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934819EE-E203-77DD-56B4-B037733CE251}"/>
              </a:ext>
            </a:extLst>
          </p:cNvPr>
          <p:cNvSpPr txBox="1">
            <a:spLocks/>
          </p:cNvSpPr>
          <p:nvPr/>
        </p:nvSpPr>
        <p:spPr>
          <a:xfrm>
            <a:off x="12039600" y="6134100"/>
            <a:ext cx="6094507" cy="9525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000" dirty="0">
                <a:latin typeface="Manrope" pitchFamily="2" charset="0"/>
              </a:rPr>
              <a:t>3.1 </a:t>
            </a:r>
            <a:r>
              <a:rPr lang="en-US" sz="2000" dirty="0" err="1">
                <a:latin typeface="Manrope" pitchFamily="2" charset="0"/>
              </a:rPr>
              <a:t>Những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phần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đã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thực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hiện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được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và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hạn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chế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của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đề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tài</a:t>
            </a:r>
            <a:endParaRPr lang="en-US" sz="2000" dirty="0">
              <a:latin typeface="Manrope" pitchFamily="2" charset="0"/>
            </a:endParaRPr>
          </a:p>
          <a:p>
            <a:r>
              <a:rPr lang="vi-VN" sz="2000" dirty="0">
                <a:latin typeface="Manrope" pitchFamily="2" charset="0"/>
              </a:rPr>
              <a:t>3.2 </a:t>
            </a:r>
            <a:r>
              <a:rPr lang="en-US" sz="2000" dirty="0" err="1">
                <a:latin typeface="Manrope" pitchFamily="2" charset="0"/>
              </a:rPr>
              <a:t>Hướng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phát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triển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đề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tài</a:t>
            </a:r>
            <a:endParaRPr lang="en-US" sz="2000" dirty="0">
              <a:latin typeface="Manrope" pitchFamily="2" charset="0"/>
            </a:endParaRPr>
          </a:p>
          <a:p>
            <a:endParaRPr lang="en-US" sz="2000" dirty="0">
              <a:latin typeface="Manrope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2039DE-5F9E-B50E-99C1-A7B25D5E723C}"/>
              </a:ext>
            </a:extLst>
          </p:cNvPr>
          <p:cNvSpPr txBox="1"/>
          <p:nvPr/>
        </p:nvSpPr>
        <p:spPr>
          <a:xfrm>
            <a:off x="12039600" y="5534680"/>
            <a:ext cx="6094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Kết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luận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và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hướng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phát</a:t>
            </a:r>
            <a:r>
              <a:rPr lang="en-US" sz="2800" b="1" dirty="0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Thang Long Sans" pitchFamily="50" charset="0"/>
                <a:cs typeface="Thang Long Sans" pitchFamily="50" charset="0"/>
              </a:rPr>
              <a:t>triển</a:t>
            </a:r>
            <a:endParaRPr lang="en-US" sz="2800" b="1" dirty="0">
              <a:solidFill>
                <a:srgbClr val="000066"/>
              </a:solidFill>
              <a:latin typeface="Thang Long Sans" pitchFamily="50" charset="0"/>
              <a:cs typeface="Thang Long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509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6CECB-2B79-2D3E-FA9A-DEBC31C2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2E496E-6B8D-B066-50EA-D9A314412E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01435-2048-C005-579F-F4BD6174D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1.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Phân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tích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thiết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kế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hệ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thống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0055D62-ED8A-7F8A-1E95-6C2AC642E7A5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6019800" cy="8112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1.1. </a:t>
            </a:r>
            <a:r>
              <a:rPr lang="en-US" sz="2400" dirty="0" err="1">
                <a:latin typeface="Manrope" pitchFamily="2" charset="0"/>
              </a:rPr>
              <a:t>Xác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định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các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tác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nhân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và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chức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năng</a:t>
            </a:r>
            <a:endParaRPr lang="en-US" sz="2400" dirty="0">
              <a:latin typeface="Manrope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27880A-6278-2CA4-8BBE-8E93FC3DE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960306"/>
              </p:ext>
            </p:extLst>
          </p:nvPr>
        </p:nvGraphicFramePr>
        <p:xfrm>
          <a:off x="6445429" y="1790700"/>
          <a:ext cx="11340746" cy="6553200"/>
        </p:xfrm>
        <a:graphic>
          <a:graphicData uri="http://schemas.openxmlformats.org/drawingml/2006/table">
            <a:tbl>
              <a:tblPr/>
              <a:tblGrid>
                <a:gridCol w="2585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5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1311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 Bold"/>
                          <a:cs typeface="Public Sans Bold"/>
                          <a:sym typeface="Public Sans Bold"/>
                        </a:rPr>
                        <a:t>Actor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</a:endParaRPr>
                    </a:p>
                  </a:txBody>
                  <a:tcPr marL="211867" marR="211867" marT="211867" marB="21186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200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 Bold"/>
                          <a:cs typeface="Public Sans Bold"/>
                          <a:sym typeface="Public Sans Bold"/>
                        </a:rPr>
                        <a:t>Chức</a:t>
                      </a:r>
                      <a:r>
                        <a:rPr lang="en-US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 Bold"/>
                          <a:cs typeface="Public Sans Bold"/>
                          <a:sym typeface="Public Sans Bold"/>
                        </a:rPr>
                        <a:t> </a:t>
                      </a:r>
                      <a:r>
                        <a:rPr lang="en-US" sz="2200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 Bold"/>
                          <a:cs typeface="Public Sans Bold"/>
                          <a:sym typeface="Public Sans Bold"/>
                        </a:rPr>
                        <a:t>năng</a:t>
                      </a:r>
                      <a:r>
                        <a:rPr lang="en-US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 Bold"/>
                          <a:cs typeface="Public Sans Bold"/>
                          <a:sym typeface="Public Sans Bold"/>
                        </a:rPr>
                        <a:t> 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</a:endParaRPr>
                    </a:p>
                  </a:txBody>
                  <a:tcPr marL="211867" marR="211867" marT="211867" marB="21186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166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ADMIN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</a:endParaRPr>
                    </a:p>
                  </a:txBody>
                  <a:tcPr marL="211867" marR="211867" marT="211867" marB="21186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Đăng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nhập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/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Đăng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xuất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</a:endParaRPr>
                    </a:p>
                    <a:p>
                      <a:pPr algn="l">
                        <a:lnSpc>
                          <a:spcPts val="2939"/>
                        </a:lnSpc>
                      </a:pP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Thêm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/ Sửa /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Xóa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sinh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viên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algn="l">
                        <a:lnSpc>
                          <a:spcPts val="2939"/>
                        </a:lnSpc>
                      </a:pP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Xem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toàn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bộ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danh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sách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sinh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viên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algn="l">
                        <a:lnSpc>
                          <a:spcPts val="2939"/>
                        </a:lnSpc>
                      </a:pP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Tìm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kiếm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sinh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viên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theo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mã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hoặc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tên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algn="l">
                        <a:lnSpc>
                          <a:spcPts val="2939"/>
                        </a:lnSpc>
                      </a:pP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Thêm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môn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học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cho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sinh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viên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algn="l">
                        <a:lnSpc>
                          <a:spcPts val="2939"/>
                        </a:lnSpc>
                      </a:pP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Nhập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/ Sửa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điểm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môn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học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(0.0 – 10.0)</a:t>
                      </a:r>
                    </a:p>
                    <a:p>
                      <a:pPr algn="l">
                        <a:lnSpc>
                          <a:spcPts val="2939"/>
                        </a:lnSpc>
                      </a:pP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Xóa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môn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học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211867" marR="211867" marT="211867" marB="21186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8723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2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USER (Sinh viên)</a:t>
                      </a:r>
                      <a:endParaRPr lang="en-US" sz="220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</a:endParaRPr>
                    </a:p>
                  </a:txBody>
                  <a:tcPr marL="211867" marR="211867" marT="211867" marB="21186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Đăng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nhập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/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Đăng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xuất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</a:endParaRPr>
                    </a:p>
                    <a:p>
                      <a:pPr algn="l">
                        <a:lnSpc>
                          <a:spcPts val="2939"/>
                        </a:lnSpc>
                      </a:pP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Xem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thông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tin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cá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nhân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algn="l">
                        <a:lnSpc>
                          <a:spcPts val="2939"/>
                        </a:lnSpc>
                      </a:pP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Cập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nhật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số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điện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thoại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và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địa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chỉ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algn="l">
                        <a:lnSpc>
                          <a:spcPts val="2939"/>
                        </a:lnSpc>
                      </a:pP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Xem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điểm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các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môn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học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của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bản</a:t>
                      </a:r>
                      <a:r>
                        <a:rPr lang="en-US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 </a:t>
                      </a:r>
                      <a:r>
                        <a:rPr lang="en-US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Manrope" pitchFamily="2" charset="0"/>
                          <a:ea typeface="Public Sans"/>
                          <a:cs typeface="Public Sans"/>
                          <a:sym typeface="Public Sans"/>
                        </a:rPr>
                        <a:t>thân</a:t>
                      </a:r>
                      <a:endParaRPr lang="en-US" sz="2200" dirty="0">
                        <a:solidFill>
                          <a:schemeClr val="tx2">
                            <a:lumMod val="50000"/>
                          </a:schemeClr>
                        </a:solidFill>
                        <a:latin typeface="Manrope" pitchFamily="2" charset="0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211867" marR="211867" marT="211867" marB="21186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2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39CE9-A9E6-D6EA-E2DA-032BC74BA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F848A6-91B9-037B-9B57-DD5F427A0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1B0C1-7103-47E1-01A9-D635973973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1.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Phân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tích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thiết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kế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hệ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thống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3A363AC-5D49-5A51-7DA5-09AC17256664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1.2. </a:t>
            </a:r>
            <a:r>
              <a:rPr lang="en-US" sz="2400" dirty="0" err="1">
                <a:latin typeface="Manrope" pitchFamily="2" charset="0"/>
              </a:rPr>
              <a:t>Biểu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đồ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phân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rã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chức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năng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D90CF-504D-758C-CE28-E725426B95F7}"/>
              </a:ext>
            </a:extLst>
          </p:cNvPr>
          <p:cNvSpPr txBox="1"/>
          <p:nvPr/>
        </p:nvSpPr>
        <p:spPr>
          <a:xfrm>
            <a:off x="7772400" y="1533525"/>
            <a:ext cx="9448800" cy="7210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HỆ THỐNG QUẢN LÝ SINH VIÊN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├── XÁC THỰC &amp; BẢO MẬT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├── ĐĂNG NHẬP (POST /API/AUTH/LOGIN)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├── XÁC THỰC JWT MỖI REQUEST (JWTFILTER)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└── PHÂN QUYỀN THEO ROLE (ADMIN / USER)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├── QUẢN LÝ SINH VIÊN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├── XEM DANH SÁCH (GET /API/STUDENTS)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├── THÊM SINH VIÊN (POST /API/STUDENTS)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├── SỬA THÔNG TIN (PUT /API/STUDENTS/{ID})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└── XÓA SINH VIÊN (DELETE /API/STUDENTS/{ID})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├── QUẢN LÝ ĐIỂM SỐ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├── THÊM MÔN HỌC (POST /API/GRADES/STUDENT/{ID})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├── CẬP NHẬT ĐIỂM (PUT /API/GRADES/{ID})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   └── XÓA MÔN HỌC (DELETE /API/GRADES/{ID})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│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└── QUẢN LÝ NGƯỜI DÙNG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   ├── TỰ ĐỘNG TẠO TÀI KHOẢN USER KHI THÊM SINH VIÊN</a:t>
            </a:r>
          </a:p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sz="1600" b="1" spc="457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   └── TỰ ĐỘNG XÓA TÀI KHOẢN USER KHI XÓA SINH VIÊN</a:t>
            </a:r>
          </a:p>
        </p:txBody>
      </p:sp>
    </p:spTree>
    <p:extLst>
      <p:ext uri="{BB962C8B-B14F-4D97-AF65-F5344CB8AC3E}">
        <p14:creationId xmlns:p14="http://schemas.microsoft.com/office/powerpoint/2010/main" val="17922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DE2C-F05C-A312-08D8-DEBAADF9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EE8DF0-DF1A-CC57-5629-0B7916794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1A957-7BEF-A6E3-FC17-0161A20B89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1.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Phân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tích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thiết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kế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hệ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thống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AEB5F71C-0709-E2AE-2032-C416F487108A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Manrope" pitchFamily="2" charset="0"/>
              </a:rPr>
              <a:t>1.3. </a:t>
            </a:r>
            <a:r>
              <a:rPr lang="en-US" sz="2000" dirty="0" err="1">
                <a:latin typeface="Manrope" pitchFamily="2" charset="0"/>
              </a:rPr>
              <a:t>Biểu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đồ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Usecase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tổng</a:t>
            </a:r>
            <a:r>
              <a:rPr lang="en-US" sz="2000" dirty="0">
                <a:latin typeface="Manrope" pitchFamily="2" charset="0"/>
              </a:rPr>
              <a:t> </a:t>
            </a:r>
            <a:r>
              <a:rPr lang="en-US" sz="2000" dirty="0" err="1">
                <a:latin typeface="Manrope" pitchFamily="2" charset="0"/>
              </a:rPr>
              <a:t>quát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28B9095-449F-82E3-85E1-E409C583BE8A}"/>
              </a:ext>
            </a:extLst>
          </p:cNvPr>
          <p:cNvSpPr/>
          <p:nvPr/>
        </p:nvSpPr>
        <p:spPr>
          <a:xfrm>
            <a:off x="5867400" y="1866900"/>
            <a:ext cx="11658600" cy="6553200"/>
          </a:xfrm>
          <a:custGeom>
            <a:avLst/>
            <a:gdLst/>
            <a:ahLst/>
            <a:cxnLst/>
            <a:rect l="l" t="t" r="r" b="b"/>
            <a:pathLst>
              <a:path w="10015676" h="5732139">
                <a:moveTo>
                  <a:pt x="0" y="0"/>
                </a:moveTo>
                <a:lnTo>
                  <a:pt x="10015676" y="0"/>
                </a:lnTo>
                <a:lnTo>
                  <a:pt x="10015676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28" b="-3728"/>
            </a:stretch>
          </a:blipFill>
        </p:spPr>
      </p:sp>
    </p:spTree>
    <p:extLst>
      <p:ext uri="{BB962C8B-B14F-4D97-AF65-F5344CB8AC3E}">
        <p14:creationId xmlns:p14="http://schemas.microsoft.com/office/powerpoint/2010/main" val="210144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4C625-B112-0A53-8E81-203AB6EE7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4861CF-24FE-A4B8-0952-7B2A21A8C4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7789B-1FCB-A966-0620-8969534AC9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2.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CECF486-F970-A3E4-1E7C-CE31C7BE6F8C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2.1. </a:t>
            </a:r>
            <a:r>
              <a:rPr lang="en-US" sz="2400" dirty="0" err="1">
                <a:latin typeface="Manrope" pitchFamily="2" charset="0"/>
              </a:rPr>
              <a:t>Xây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dựng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các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chức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năng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011FF0F0-D73C-003C-6871-8B2BA44BDA61}"/>
              </a:ext>
            </a:extLst>
          </p:cNvPr>
          <p:cNvSpPr/>
          <p:nvPr/>
        </p:nvSpPr>
        <p:spPr>
          <a:xfrm>
            <a:off x="920896" y="4318000"/>
            <a:ext cx="15790387" cy="4692650"/>
          </a:xfrm>
          <a:custGeom>
            <a:avLst/>
            <a:gdLst/>
            <a:ahLst/>
            <a:cxnLst/>
            <a:rect l="l" t="t" r="r" b="b"/>
            <a:pathLst>
              <a:path w="11192646" h="3326275">
                <a:moveTo>
                  <a:pt x="0" y="0"/>
                </a:moveTo>
                <a:lnTo>
                  <a:pt x="11192646" y="0"/>
                </a:lnTo>
                <a:lnTo>
                  <a:pt x="11192646" y="3326276"/>
                </a:lnTo>
                <a:lnTo>
                  <a:pt x="0" y="3326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0" b="-653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F5F29-37DE-2253-BC1A-4512124F1263}"/>
              </a:ext>
            </a:extLst>
          </p:cNvPr>
          <p:cNvSpPr txBox="1"/>
          <p:nvPr/>
        </p:nvSpPr>
        <p:spPr>
          <a:xfrm>
            <a:off x="1371599" y="2004305"/>
            <a:ext cx="15183929" cy="1917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2400" spc="16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a, </a:t>
            </a:r>
            <a:r>
              <a:rPr lang="en-US" sz="2400" spc="16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Chức</a:t>
            </a:r>
            <a:r>
              <a:rPr lang="en-US" sz="2400" spc="16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6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năng</a:t>
            </a:r>
            <a:r>
              <a:rPr lang="en-US" sz="2400" spc="16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6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xác</a:t>
            </a:r>
            <a:r>
              <a:rPr lang="en-US" sz="2400" spc="16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6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thực</a:t>
            </a:r>
            <a:endParaRPr lang="en-US" sz="2400" spc="16" dirty="0">
              <a:solidFill>
                <a:schemeClr val="tx2">
                  <a:lumMod val="50000"/>
                </a:schemeClr>
              </a:solidFill>
              <a:latin typeface="Manrope" pitchFamily="2" charset="0"/>
              <a:ea typeface="Playfair Display"/>
              <a:cs typeface="Playfair Display"/>
              <a:sym typeface="Playfair Display"/>
            </a:endParaRP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AuthController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xử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lý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đăng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nhập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tại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POST /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api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/auth/login. Backend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tìm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user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trong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database, so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sánh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mật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khẩu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bằng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BCrypt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.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Nếu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đúng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,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JwtUtil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tạo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token HS256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nhúng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username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và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role,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thời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hạn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24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giờ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.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Mỗi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request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sau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đó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đều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qua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JwtFilter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để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xác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thực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token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và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 set </a:t>
            </a:r>
            <a:r>
              <a:rPr lang="en-US" sz="2400" spc="13" dirty="0" err="1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SecurityContext</a:t>
            </a:r>
            <a:r>
              <a:rPr lang="en-US" sz="2400" spc="13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Playfair Display"/>
                <a:cs typeface="Playfair Display"/>
                <a:sym typeface="Playfair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187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2C413-0FCE-437A-0455-0D7B3DBC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F50165-4D9A-020B-972A-A463621080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38CA9-24D7-9A40-9EBA-EE18F5F4F2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2.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ABC251A-8420-ACF5-D1B2-A5F9F3D0442B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2.1. </a:t>
            </a:r>
            <a:r>
              <a:rPr lang="en-US" sz="2400" dirty="0" err="1">
                <a:latin typeface="Manrope" pitchFamily="2" charset="0"/>
              </a:rPr>
              <a:t>Xây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dựng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các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chức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năng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587D7-F2E7-D8B1-352F-357942C351F0}"/>
              </a:ext>
            </a:extLst>
          </p:cNvPr>
          <p:cNvSpPr txBox="1"/>
          <p:nvPr/>
        </p:nvSpPr>
        <p:spPr>
          <a:xfrm>
            <a:off x="1295400" y="2218952"/>
            <a:ext cx="15415882" cy="1619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b)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Chức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năng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quản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lí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sinh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viên</a:t>
            </a:r>
            <a:endParaRPr lang="en-US" sz="2400" dirty="0">
              <a:solidFill>
                <a:srgbClr val="2B2C3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StudentController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cung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cấp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đầy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đủ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CRUD.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Cùng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endpoint GET /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api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/students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nhưng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ADMIN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nhận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toàn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bộ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danh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sách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USER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chỉ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nhận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thông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tin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của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chính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mình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(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lọc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theo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studentCode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= username).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Tương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tự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PUT /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api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/students/{id} — ADMIN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cập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nhật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được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tất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cả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trường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USER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chỉ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cập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nhật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được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phone </a:t>
            </a:r>
            <a:r>
              <a:rPr lang="en-US" sz="2400" dirty="0" err="1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và</a:t>
            </a:r>
            <a:r>
              <a:rPr lang="en-US" sz="2400" dirty="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address.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F53A107-BDBF-5BEE-3115-FA0811BDCCFE}"/>
              </a:ext>
            </a:extLst>
          </p:cNvPr>
          <p:cNvSpPr/>
          <p:nvPr/>
        </p:nvSpPr>
        <p:spPr>
          <a:xfrm>
            <a:off x="1797050" y="4235133"/>
            <a:ext cx="14693900" cy="4775517"/>
          </a:xfrm>
          <a:custGeom>
            <a:avLst/>
            <a:gdLst/>
            <a:ahLst/>
            <a:cxnLst/>
            <a:rect l="l" t="t" r="r" b="b"/>
            <a:pathLst>
              <a:path w="11301259" h="3672909">
                <a:moveTo>
                  <a:pt x="0" y="0"/>
                </a:moveTo>
                <a:lnTo>
                  <a:pt x="11301259" y="0"/>
                </a:lnTo>
                <a:lnTo>
                  <a:pt x="11301259" y="3672909"/>
                </a:lnTo>
                <a:lnTo>
                  <a:pt x="0" y="3672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78130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1703A-E0FB-7FA0-AF7F-E75080D6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C4A0E7-4B17-D84D-F8D2-12BFF26D00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B3F70-AFAD-8837-5ADC-5C9120AA8C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2.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842ACE96-9FB7-218A-C85D-3EBD20E0733D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2.1. </a:t>
            </a:r>
            <a:r>
              <a:rPr lang="en-US" sz="2400" dirty="0" err="1">
                <a:latin typeface="Manrope" pitchFamily="2" charset="0"/>
              </a:rPr>
              <a:t>Xây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dựng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các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chức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năng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A0398-ECB7-2E41-0E29-C9A2AE973A5F}"/>
              </a:ext>
            </a:extLst>
          </p:cNvPr>
          <p:cNvSpPr txBox="1"/>
          <p:nvPr/>
        </p:nvSpPr>
        <p:spPr>
          <a:xfrm>
            <a:off x="1219200" y="1921701"/>
            <a:ext cx="15157450" cy="1619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ym typeface="Public Sans"/>
              </a:rPr>
              <a:t>c)</a:t>
            </a:r>
            <a:r>
              <a:rPr lang="en-US" dirty="0" err="1">
                <a:sym typeface="Public Sans"/>
              </a:rPr>
              <a:t>Chức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năng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tự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động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tạo</a:t>
            </a:r>
            <a:r>
              <a:rPr lang="en-US" dirty="0">
                <a:sym typeface="Public Sans"/>
              </a:rPr>
              <a:t>/ </a:t>
            </a:r>
            <a:r>
              <a:rPr lang="en-US" dirty="0" err="1">
                <a:sym typeface="Public Sans"/>
              </a:rPr>
              <a:t>xóa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tài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khoản</a:t>
            </a:r>
            <a:endParaRPr lang="en-US" dirty="0">
              <a:sym typeface="Public Sans"/>
            </a:endParaRPr>
          </a:p>
          <a:p>
            <a:r>
              <a:rPr lang="en-US" dirty="0">
                <a:sym typeface="Public Sans"/>
              </a:rPr>
              <a:t>Khi ADMIN </a:t>
            </a:r>
            <a:r>
              <a:rPr lang="en-US" dirty="0" err="1">
                <a:sym typeface="Public Sans"/>
              </a:rPr>
              <a:t>thêm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sinh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viên</a:t>
            </a:r>
            <a:r>
              <a:rPr lang="en-US" dirty="0">
                <a:sym typeface="Public Sans"/>
              </a:rPr>
              <a:t>, </a:t>
            </a:r>
            <a:r>
              <a:rPr lang="en-US" dirty="0" err="1">
                <a:sym typeface="Public Sans"/>
              </a:rPr>
              <a:t>StudentService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tự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động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tạo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tài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khoản</a:t>
            </a:r>
            <a:r>
              <a:rPr lang="en-US" dirty="0">
                <a:sym typeface="Public Sans"/>
              </a:rPr>
              <a:t> USER </a:t>
            </a:r>
            <a:r>
              <a:rPr lang="en-US" dirty="0" err="1">
                <a:sym typeface="Public Sans"/>
              </a:rPr>
              <a:t>với</a:t>
            </a:r>
            <a:r>
              <a:rPr lang="en-US" dirty="0">
                <a:sym typeface="Public Sans"/>
              </a:rPr>
              <a:t> username </a:t>
            </a:r>
            <a:r>
              <a:rPr lang="en-US" dirty="0" err="1">
                <a:sym typeface="Public Sans"/>
              </a:rPr>
              <a:t>và</a:t>
            </a:r>
            <a:r>
              <a:rPr lang="en-US" dirty="0">
                <a:sym typeface="Public Sans"/>
              </a:rPr>
              <a:t> password </a:t>
            </a:r>
            <a:r>
              <a:rPr lang="en-US" dirty="0" err="1">
                <a:sym typeface="Public Sans"/>
              </a:rPr>
              <a:t>mặc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định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bằng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mã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sinh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viên</a:t>
            </a:r>
            <a:r>
              <a:rPr lang="en-US" dirty="0">
                <a:sym typeface="Public Sans"/>
              </a:rPr>
              <a:t>. Khi </a:t>
            </a:r>
            <a:r>
              <a:rPr lang="en-US" dirty="0" err="1">
                <a:sym typeface="Public Sans"/>
              </a:rPr>
              <a:t>xóa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sinh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viên</a:t>
            </a:r>
            <a:r>
              <a:rPr lang="en-US" dirty="0">
                <a:sym typeface="Public Sans"/>
              </a:rPr>
              <a:t>, </a:t>
            </a:r>
            <a:r>
              <a:rPr lang="en-US" dirty="0" err="1">
                <a:sym typeface="Public Sans"/>
              </a:rPr>
              <a:t>tài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khoản</a:t>
            </a:r>
            <a:r>
              <a:rPr lang="en-US" dirty="0">
                <a:sym typeface="Public Sans"/>
              </a:rPr>
              <a:t> USER </a:t>
            </a:r>
            <a:r>
              <a:rPr lang="en-US" dirty="0" err="1">
                <a:sym typeface="Public Sans"/>
              </a:rPr>
              <a:t>tương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ứng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bị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xóa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theo.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Cả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hai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thao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tác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dùng</a:t>
            </a:r>
            <a:r>
              <a:rPr lang="en-US" dirty="0">
                <a:sym typeface="Public Sans"/>
              </a:rPr>
              <a:t> @Transactional </a:t>
            </a:r>
            <a:r>
              <a:rPr lang="en-US" dirty="0" err="1">
                <a:sym typeface="Public Sans"/>
              </a:rPr>
              <a:t>đảm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bảo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toàn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vẹn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dữ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liệu</a:t>
            </a:r>
            <a:r>
              <a:rPr lang="en-US" dirty="0">
                <a:sym typeface="Public Sans"/>
              </a:rPr>
              <a:t>.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EE933FAE-18E7-0249-F074-445814259920}"/>
              </a:ext>
            </a:extLst>
          </p:cNvPr>
          <p:cNvSpPr/>
          <p:nvPr/>
        </p:nvSpPr>
        <p:spPr>
          <a:xfrm>
            <a:off x="3775764" y="3672698"/>
            <a:ext cx="11256806" cy="5494958"/>
          </a:xfrm>
          <a:custGeom>
            <a:avLst/>
            <a:gdLst/>
            <a:ahLst/>
            <a:cxnLst/>
            <a:rect l="l" t="t" r="r" b="b"/>
            <a:pathLst>
              <a:path w="10736471" h="5240959">
                <a:moveTo>
                  <a:pt x="0" y="0"/>
                </a:moveTo>
                <a:lnTo>
                  <a:pt x="10736471" y="0"/>
                </a:lnTo>
                <a:lnTo>
                  <a:pt x="10736471" y="5240959"/>
                </a:lnTo>
                <a:lnTo>
                  <a:pt x="0" y="5240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4" r="-4855"/>
            </a:stretch>
          </a:blipFill>
        </p:spPr>
      </p:sp>
    </p:spTree>
    <p:extLst>
      <p:ext uri="{BB962C8B-B14F-4D97-AF65-F5344CB8AC3E}">
        <p14:creationId xmlns:p14="http://schemas.microsoft.com/office/powerpoint/2010/main" val="58425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BBC2C-DC45-068E-F211-8E64EBDE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322584-78FC-F4EA-F669-6037598020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ABC6B-FF8E-D0B4-A6E6-B161FD82BC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2.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4505CE0-0444-07B2-05BA-6D1603A6122D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5289404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2.1. </a:t>
            </a:r>
            <a:r>
              <a:rPr lang="en-US" sz="2400" dirty="0" err="1">
                <a:latin typeface="Manrope" pitchFamily="2" charset="0"/>
              </a:rPr>
              <a:t>Xây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dựng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các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chức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năng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A58FC-5A05-3A0E-722B-3AE30D71CE80}"/>
              </a:ext>
            </a:extLst>
          </p:cNvPr>
          <p:cNvSpPr txBox="1"/>
          <p:nvPr/>
        </p:nvSpPr>
        <p:spPr>
          <a:xfrm>
            <a:off x="1219200" y="1962824"/>
            <a:ext cx="15157450" cy="1209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ym typeface="Public Sans Bold"/>
              </a:rPr>
              <a:t>d)</a:t>
            </a:r>
            <a:r>
              <a:rPr lang="en-US" dirty="0" err="1">
                <a:sym typeface="Public Sans Bold"/>
              </a:rPr>
              <a:t>Chức</a:t>
            </a:r>
            <a:r>
              <a:rPr lang="en-US" dirty="0">
                <a:sym typeface="Public Sans Bold"/>
              </a:rPr>
              <a:t> </a:t>
            </a:r>
            <a:r>
              <a:rPr lang="en-US" dirty="0" err="1">
                <a:sym typeface="Public Sans Bold"/>
              </a:rPr>
              <a:t>năng</a:t>
            </a:r>
            <a:r>
              <a:rPr lang="en-US" dirty="0">
                <a:sym typeface="Public Sans Bold"/>
              </a:rPr>
              <a:t> </a:t>
            </a:r>
            <a:r>
              <a:rPr lang="en-US" dirty="0" err="1">
                <a:sym typeface="Public Sans Bold"/>
              </a:rPr>
              <a:t>quản</a:t>
            </a:r>
            <a:r>
              <a:rPr lang="en-US" dirty="0">
                <a:sym typeface="Public Sans Bold"/>
              </a:rPr>
              <a:t> </a:t>
            </a:r>
            <a:r>
              <a:rPr lang="en-US" dirty="0" err="1">
                <a:sym typeface="Public Sans Bold"/>
              </a:rPr>
              <a:t>lý</a:t>
            </a:r>
            <a:r>
              <a:rPr lang="en-US" dirty="0">
                <a:sym typeface="Public Sans Bold"/>
              </a:rPr>
              <a:t> </a:t>
            </a:r>
            <a:r>
              <a:rPr lang="en-US" dirty="0" err="1">
                <a:sym typeface="Public Sans Bold"/>
              </a:rPr>
              <a:t>điểm</a:t>
            </a:r>
            <a:endParaRPr lang="en-US" dirty="0">
              <a:sym typeface="Public Sans Bold"/>
            </a:endParaRPr>
          </a:p>
          <a:p>
            <a:r>
              <a:rPr lang="en-US" dirty="0" err="1">
                <a:sym typeface="Public Sans"/>
              </a:rPr>
              <a:t>GradeController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cho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phép</a:t>
            </a:r>
            <a:r>
              <a:rPr lang="en-US" dirty="0">
                <a:sym typeface="Public Sans"/>
              </a:rPr>
              <a:t> ADMIN </a:t>
            </a:r>
            <a:r>
              <a:rPr lang="en-US" dirty="0" err="1">
                <a:sym typeface="Public Sans"/>
              </a:rPr>
              <a:t>thêm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môn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học</a:t>
            </a:r>
            <a:r>
              <a:rPr lang="en-US" dirty="0">
                <a:sym typeface="Public Sans"/>
              </a:rPr>
              <a:t>, </a:t>
            </a:r>
            <a:r>
              <a:rPr lang="en-US" dirty="0" err="1">
                <a:sym typeface="Public Sans"/>
              </a:rPr>
              <a:t>nhập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và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sửa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điểm</a:t>
            </a:r>
            <a:r>
              <a:rPr lang="en-US" dirty="0">
                <a:sym typeface="Public Sans"/>
              </a:rPr>
              <a:t>, </a:t>
            </a:r>
            <a:r>
              <a:rPr lang="en-US" dirty="0" err="1">
                <a:sym typeface="Public Sans"/>
              </a:rPr>
              <a:t>xóa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môn</a:t>
            </a:r>
            <a:r>
              <a:rPr lang="en-US" dirty="0">
                <a:sym typeface="Public Sans"/>
              </a:rPr>
              <a:t>. </a:t>
            </a:r>
            <a:r>
              <a:rPr lang="en-US" dirty="0" err="1">
                <a:sym typeface="Public Sans"/>
              </a:rPr>
              <a:t>Điểm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được</a:t>
            </a:r>
            <a:r>
              <a:rPr lang="en-US" dirty="0">
                <a:sym typeface="Public Sans"/>
              </a:rPr>
              <a:t> validate </a:t>
            </a:r>
            <a:r>
              <a:rPr lang="en-US" dirty="0" err="1">
                <a:sym typeface="Public Sans"/>
              </a:rPr>
              <a:t>trong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khoảng</a:t>
            </a:r>
            <a:r>
              <a:rPr lang="en-US" dirty="0">
                <a:sym typeface="Public Sans"/>
              </a:rPr>
              <a:t> 0.0 – 10.0 </a:t>
            </a:r>
            <a:r>
              <a:rPr lang="en-US" dirty="0" err="1">
                <a:sym typeface="Public Sans"/>
              </a:rPr>
              <a:t>trước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khi</a:t>
            </a:r>
            <a:r>
              <a:rPr lang="en-US" dirty="0">
                <a:sym typeface="Public Sans"/>
              </a:rPr>
              <a:t> </a:t>
            </a:r>
            <a:r>
              <a:rPr lang="en-US" dirty="0" err="1">
                <a:sym typeface="Public Sans"/>
              </a:rPr>
              <a:t>lưu</a:t>
            </a:r>
            <a:r>
              <a:rPr lang="en-US" dirty="0">
                <a:sym typeface="Public Sans"/>
              </a:rPr>
              <a:t>.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FF670DC7-7191-DD03-FD86-686FADACEE03}"/>
              </a:ext>
            </a:extLst>
          </p:cNvPr>
          <p:cNvSpPr/>
          <p:nvPr/>
        </p:nvSpPr>
        <p:spPr>
          <a:xfrm>
            <a:off x="674795" y="3949665"/>
            <a:ext cx="16938409" cy="2456070"/>
          </a:xfrm>
          <a:custGeom>
            <a:avLst/>
            <a:gdLst/>
            <a:ahLst/>
            <a:cxnLst/>
            <a:rect l="l" t="t" r="r" b="b"/>
            <a:pathLst>
              <a:path w="11301259" h="1638683">
                <a:moveTo>
                  <a:pt x="0" y="0"/>
                </a:moveTo>
                <a:lnTo>
                  <a:pt x="11301259" y="0"/>
                </a:lnTo>
                <a:lnTo>
                  <a:pt x="11301259" y="1638682"/>
                </a:lnTo>
                <a:lnTo>
                  <a:pt x="0" y="1638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11706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C1F6F-AE46-C16C-0EF4-D7A999FB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FDE5BD-47DD-0A9C-D5A9-BDA95B05C7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D63B-05BC-D5E7-5987-41BF4870FF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2.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9AD9A60C-A0F2-78C9-769A-10CC7F1A0F7A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2.2. </a:t>
            </a:r>
            <a:r>
              <a:rPr lang="en-US" sz="2400" dirty="0" err="1">
                <a:latin typeface="Manrope" pitchFamily="2" charset="0"/>
              </a:rPr>
              <a:t>Thiết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lập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kết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nối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7E4EF9-40EE-53F5-200B-3A25D49F7660}"/>
              </a:ext>
            </a:extLst>
          </p:cNvPr>
          <p:cNvSpPr txBox="1"/>
          <p:nvPr/>
        </p:nvSpPr>
        <p:spPr>
          <a:xfrm>
            <a:off x="1219200" y="1962824"/>
            <a:ext cx="15157450" cy="1619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ym typeface="Public Sans Bold"/>
              </a:rPr>
              <a:t>a) </a:t>
            </a:r>
            <a:r>
              <a:rPr lang="en-US" dirty="0" err="1">
                <a:sym typeface="Public Sans Bold"/>
              </a:rPr>
              <a:t>Kết</a:t>
            </a:r>
            <a:r>
              <a:rPr lang="en-US" dirty="0">
                <a:sym typeface="Public Sans Bold"/>
              </a:rPr>
              <a:t> </a:t>
            </a:r>
            <a:r>
              <a:rPr lang="en-US" dirty="0" err="1">
                <a:sym typeface="Public Sans Bold"/>
              </a:rPr>
              <a:t>nối</a:t>
            </a:r>
            <a:r>
              <a:rPr lang="en-US" dirty="0">
                <a:sym typeface="Public Sans Bold"/>
              </a:rPr>
              <a:t> Frontend </a:t>
            </a:r>
            <a:r>
              <a:rPr lang="en-US" dirty="0" err="1">
                <a:sym typeface="Public Sans Bold"/>
              </a:rPr>
              <a:t>với</a:t>
            </a:r>
            <a:r>
              <a:rPr lang="en-US" dirty="0">
                <a:sym typeface="Public Sans Bold"/>
              </a:rPr>
              <a:t> Backend</a:t>
            </a:r>
          </a:p>
          <a:p>
            <a:r>
              <a:rPr lang="en-US" dirty="0">
                <a:solidFill>
                  <a:srgbClr val="000000"/>
                </a:solidFill>
                <a:sym typeface="Public Sans"/>
              </a:rPr>
              <a:t>Frontend React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giao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tiếp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với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backend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thông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qua Axios. File axios.js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cấu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hình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base URL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và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tự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động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đính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kèm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JWT token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vào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mọi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request.</a:t>
            </a:r>
          </a:p>
          <a:p>
            <a:r>
              <a:rPr lang="en-US" dirty="0">
                <a:sym typeface="Public Sans"/>
              </a:rPr>
              <a:t>.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3E101BFE-57AD-FB70-D82D-89065E973A73}"/>
              </a:ext>
            </a:extLst>
          </p:cNvPr>
          <p:cNvSpPr/>
          <p:nvPr/>
        </p:nvSpPr>
        <p:spPr>
          <a:xfrm>
            <a:off x="2484084" y="3582819"/>
            <a:ext cx="13319831" cy="5427831"/>
          </a:xfrm>
          <a:custGeom>
            <a:avLst/>
            <a:gdLst/>
            <a:ahLst/>
            <a:cxnLst/>
            <a:rect l="l" t="t" r="r" b="b"/>
            <a:pathLst>
              <a:path w="11301259" h="4605263">
                <a:moveTo>
                  <a:pt x="0" y="0"/>
                </a:moveTo>
                <a:lnTo>
                  <a:pt x="11301259" y="0"/>
                </a:lnTo>
                <a:lnTo>
                  <a:pt x="11301259" y="4605263"/>
                </a:lnTo>
                <a:lnTo>
                  <a:pt x="0" y="4605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8159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4E374-0DF3-B17C-C43F-17CE2765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64852D-AC83-EFD1-564A-B07A9C5A4F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6DE18-28D6-2747-892E-EDE9229796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2.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F0263D3-F933-4926-4F9C-422D4DA46F0B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2.2. </a:t>
            </a:r>
            <a:r>
              <a:rPr lang="en-US" sz="2400" dirty="0" err="1">
                <a:latin typeface="Manrope" pitchFamily="2" charset="0"/>
              </a:rPr>
              <a:t>Thiết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lập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kết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nối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2994F-65F7-1338-95EA-E99FD54986E5}"/>
              </a:ext>
            </a:extLst>
          </p:cNvPr>
          <p:cNvSpPr txBox="1"/>
          <p:nvPr/>
        </p:nvSpPr>
        <p:spPr>
          <a:xfrm>
            <a:off x="1219200" y="1962824"/>
            <a:ext cx="15157450" cy="1619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sym typeface="Public Sans Bold"/>
              </a:rPr>
              <a:t>b)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Cấu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hình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CORS</a:t>
            </a:r>
          </a:p>
          <a:p>
            <a:r>
              <a:rPr lang="en-US" dirty="0">
                <a:sym typeface="Public Sans"/>
              </a:rPr>
              <a:t>.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Vì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frontend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chạy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tại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localhost:5173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và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backend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tại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localhost:8080 —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khác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cổng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nên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trình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duyệt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chặn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request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theo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chính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sách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Same-Origin. Backend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cấu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hình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CORS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trong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SecurityConfig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để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cho</a:t>
            </a:r>
            <a:r>
              <a:rPr lang="en-US" dirty="0">
                <a:solidFill>
                  <a:srgbClr val="000000"/>
                </a:solidFill>
                <a:sym typeface="Public Sans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"/>
              </a:rPr>
              <a:t>phép</a:t>
            </a:r>
            <a:endParaRPr lang="en-US" dirty="0">
              <a:solidFill>
                <a:srgbClr val="000000"/>
              </a:solidFill>
              <a:sym typeface="Public Sans"/>
            </a:endParaRPr>
          </a:p>
          <a:p>
            <a:endParaRPr lang="en-US" dirty="0">
              <a:sym typeface="Public Sans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FFED2359-3670-277D-FDD2-F89AD925B3FA}"/>
              </a:ext>
            </a:extLst>
          </p:cNvPr>
          <p:cNvSpPr/>
          <p:nvPr/>
        </p:nvSpPr>
        <p:spPr>
          <a:xfrm>
            <a:off x="621215" y="4150982"/>
            <a:ext cx="17045570" cy="3025588"/>
          </a:xfrm>
          <a:custGeom>
            <a:avLst/>
            <a:gdLst/>
            <a:ahLst/>
            <a:cxnLst/>
            <a:rect l="l" t="t" r="r" b="b"/>
            <a:pathLst>
              <a:path w="11301259" h="2005973">
                <a:moveTo>
                  <a:pt x="0" y="0"/>
                </a:moveTo>
                <a:lnTo>
                  <a:pt x="11301259" y="0"/>
                </a:lnTo>
                <a:lnTo>
                  <a:pt x="11301259" y="2005974"/>
                </a:lnTo>
                <a:lnTo>
                  <a:pt x="0" y="2005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938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DDB6-49BB-2829-DD96-E7F211EC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70BF05-2A6D-3D99-9579-E769B410A3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3C322-F460-0BC1-B9CE-0630AF1524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2.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6A4FF7A-E804-0AE3-B871-2A86C6F2835D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2.2. </a:t>
            </a:r>
            <a:r>
              <a:rPr lang="en-US" sz="2400" dirty="0" err="1">
                <a:latin typeface="Manrope" pitchFamily="2" charset="0"/>
              </a:rPr>
              <a:t>Thiết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lập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kết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nối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037E4-A8FF-A153-7B4B-52A1C419B205}"/>
              </a:ext>
            </a:extLst>
          </p:cNvPr>
          <p:cNvSpPr txBox="1"/>
          <p:nvPr/>
        </p:nvSpPr>
        <p:spPr>
          <a:xfrm>
            <a:off x="1219200" y="1962824"/>
            <a:ext cx="15157450" cy="799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sym typeface="Public Sans Bold"/>
              </a:rPr>
              <a:t>c)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Kết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nối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Database</a:t>
            </a:r>
          </a:p>
          <a:p>
            <a:endParaRPr lang="en-US" dirty="0">
              <a:sym typeface="Public Sans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019987A5-7F00-CEF8-2D8C-1D945E5A2038}"/>
              </a:ext>
            </a:extLst>
          </p:cNvPr>
          <p:cNvSpPr/>
          <p:nvPr/>
        </p:nvSpPr>
        <p:spPr>
          <a:xfrm>
            <a:off x="1615136" y="2736682"/>
            <a:ext cx="15057728" cy="5891337"/>
          </a:xfrm>
          <a:custGeom>
            <a:avLst/>
            <a:gdLst/>
            <a:ahLst/>
            <a:cxnLst/>
            <a:rect l="l" t="t" r="r" b="b"/>
            <a:pathLst>
              <a:path w="11301259" h="4421618">
                <a:moveTo>
                  <a:pt x="0" y="0"/>
                </a:moveTo>
                <a:lnTo>
                  <a:pt x="11301259" y="0"/>
                </a:lnTo>
                <a:lnTo>
                  <a:pt x="11301259" y="4421618"/>
                </a:lnTo>
                <a:lnTo>
                  <a:pt x="0" y="4421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31697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C7DD1-ED2D-B91A-04BF-31E95611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A598AB-C728-5B57-D46E-D3D5B08EF5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8EF1-2942-6F84-9479-9BAF25F02E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2.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927612AC-DBF0-C078-C2B8-08FCA46B531F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2.3. Giao </a:t>
            </a:r>
            <a:r>
              <a:rPr lang="en-US" sz="2400" dirty="0" err="1">
                <a:latin typeface="Manrope" pitchFamily="2" charset="0"/>
              </a:rPr>
              <a:t>diện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dự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án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37417-5532-0380-8D76-9BA7BFC72670}"/>
              </a:ext>
            </a:extLst>
          </p:cNvPr>
          <p:cNvSpPr txBox="1"/>
          <p:nvPr/>
        </p:nvSpPr>
        <p:spPr>
          <a:xfrm>
            <a:off x="3505200" y="4032123"/>
            <a:ext cx="480060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sym typeface="Public Sans Bold"/>
              </a:rPr>
              <a:t>Giao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diện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trang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Quản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lí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sinh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viên</a:t>
            </a:r>
            <a:endParaRPr lang="en-US" dirty="0">
              <a:sym typeface="Public Sans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8F9BE14B-33B0-0EA7-A750-25858D3BB2C7}"/>
              </a:ext>
            </a:extLst>
          </p:cNvPr>
          <p:cNvSpPr/>
          <p:nvPr/>
        </p:nvSpPr>
        <p:spPr>
          <a:xfrm>
            <a:off x="381001" y="2183089"/>
            <a:ext cx="10363200" cy="1695555"/>
          </a:xfrm>
          <a:custGeom>
            <a:avLst/>
            <a:gdLst/>
            <a:ahLst/>
            <a:cxnLst/>
            <a:rect l="l" t="t" r="r" b="b"/>
            <a:pathLst>
              <a:path w="11301259" h="1849034">
                <a:moveTo>
                  <a:pt x="0" y="0"/>
                </a:moveTo>
                <a:lnTo>
                  <a:pt x="11301259" y="0"/>
                </a:lnTo>
                <a:lnTo>
                  <a:pt x="11301259" y="1849034"/>
                </a:lnTo>
                <a:lnTo>
                  <a:pt x="0" y="1849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0319"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19A952DC-AB9C-EBB3-9DEC-E54F027751B8}"/>
              </a:ext>
            </a:extLst>
          </p:cNvPr>
          <p:cNvSpPr/>
          <p:nvPr/>
        </p:nvSpPr>
        <p:spPr>
          <a:xfrm>
            <a:off x="1905000" y="4921469"/>
            <a:ext cx="6789585" cy="3575997"/>
          </a:xfrm>
          <a:custGeom>
            <a:avLst/>
            <a:gdLst/>
            <a:ahLst/>
            <a:cxnLst/>
            <a:rect l="l" t="t" r="r" b="b"/>
            <a:pathLst>
              <a:path w="6789585" h="3575997">
                <a:moveTo>
                  <a:pt x="0" y="0"/>
                </a:moveTo>
                <a:lnTo>
                  <a:pt x="6789585" y="0"/>
                </a:lnTo>
                <a:lnTo>
                  <a:pt x="6789585" y="3575997"/>
                </a:lnTo>
                <a:lnTo>
                  <a:pt x="0" y="3575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74" t="-19311" r="-23995" b="-41307"/>
            </a:stretch>
          </a:blipFill>
        </p:spPr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8F6485DD-A561-EC3D-A280-6DA87A0E6B63}"/>
              </a:ext>
            </a:extLst>
          </p:cNvPr>
          <p:cNvSpPr/>
          <p:nvPr/>
        </p:nvSpPr>
        <p:spPr>
          <a:xfrm>
            <a:off x="11430000" y="756832"/>
            <a:ext cx="6324095" cy="6002034"/>
          </a:xfrm>
          <a:custGeom>
            <a:avLst/>
            <a:gdLst/>
            <a:ahLst/>
            <a:cxnLst/>
            <a:rect l="l" t="t" r="r" b="b"/>
            <a:pathLst>
              <a:path w="6324095" h="6002034">
                <a:moveTo>
                  <a:pt x="0" y="0"/>
                </a:moveTo>
                <a:lnTo>
                  <a:pt x="6324094" y="0"/>
                </a:lnTo>
                <a:lnTo>
                  <a:pt x="6324094" y="6002034"/>
                </a:lnTo>
                <a:lnTo>
                  <a:pt x="0" y="6002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49362-A071-1C72-850C-17AA4C13D892}"/>
              </a:ext>
            </a:extLst>
          </p:cNvPr>
          <p:cNvSpPr txBox="1"/>
          <p:nvPr/>
        </p:nvSpPr>
        <p:spPr>
          <a:xfrm>
            <a:off x="3276600" y="8497466"/>
            <a:ext cx="480060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sym typeface="Public Sans Bold"/>
              </a:rPr>
              <a:t>Giao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diện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trang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Nhập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điểm</a:t>
            </a:r>
            <a:endParaRPr lang="en-US" dirty="0">
              <a:sym typeface="Public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3135E9-35B0-841E-5EC7-FBABD4C33F35}"/>
              </a:ext>
            </a:extLst>
          </p:cNvPr>
          <p:cNvSpPr txBox="1"/>
          <p:nvPr/>
        </p:nvSpPr>
        <p:spPr>
          <a:xfrm>
            <a:off x="12573000" y="6771566"/>
            <a:ext cx="480060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sym typeface="Public Sans Bold"/>
              </a:rPr>
              <a:t>Giao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diện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trang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Thêm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sinh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viên</a:t>
            </a:r>
            <a:endParaRPr lang="en-US" dirty="0">
              <a:sym typeface="Public Sans"/>
            </a:endParaRPr>
          </a:p>
        </p:txBody>
      </p:sp>
    </p:spTree>
    <p:extLst>
      <p:ext uri="{BB962C8B-B14F-4D97-AF65-F5344CB8AC3E}">
        <p14:creationId xmlns:p14="http://schemas.microsoft.com/office/powerpoint/2010/main" val="59908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DEBBA-A561-7AEC-62BF-DCC66194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6DA94D-D15A-C8A0-A7BD-26AD51CDA9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D235D-099F-D4C1-ED68-293E7D2356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2.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Xây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dựng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chương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trình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32D1959-FA70-D25A-14B4-AA4DBBD4EA03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4953000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anrope" pitchFamily="2" charset="0"/>
              </a:rPr>
              <a:t>2.3. Giao </a:t>
            </a:r>
            <a:r>
              <a:rPr lang="en-US" sz="2400" dirty="0" err="1">
                <a:latin typeface="Manrope" pitchFamily="2" charset="0"/>
              </a:rPr>
              <a:t>diện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dự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án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9E421-9B65-954C-D059-F79F114FC202}"/>
              </a:ext>
            </a:extLst>
          </p:cNvPr>
          <p:cNvSpPr txBox="1"/>
          <p:nvPr/>
        </p:nvSpPr>
        <p:spPr>
          <a:xfrm>
            <a:off x="1853312" y="8439595"/>
            <a:ext cx="6071488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sym typeface="Public Sans Bold"/>
              </a:rPr>
              <a:t>Giao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diện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trang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Sửa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thông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tin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sinh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viên</a:t>
            </a:r>
            <a:endParaRPr lang="en-US" dirty="0">
              <a:sym typeface="Public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15410-0197-0193-E7FE-64F18E1C9775}"/>
              </a:ext>
            </a:extLst>
          </p:cNvPr>
          <p:cNvSpPr txBox="1"/>
          <p:nvPr/>
        </p:nvSpPr>
        <p:spPr>
          <a:xfrm>
            <a:off x="11811000" y="8439594"/>
            <a:ext cx="480060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3240"/>
              </a:lnSpc>
              <a:spcBef>
                <a:spcPct val="0"/>
              </a:spcBef>
              <a:defRPr sz="2400">
                <a:solidFill>
                  <a:srgbClr val="2B2C30"/>
                </a:solidFill>
                <a:latin typeface="Manrope" pitchFamily="2" charset="0"/>
                <a:ea typeface="Public Sans"/>
                <a:cs typeface="Public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  <a:sym typeface="Public Sans Bold"/>
              </a:rPr>
              <a:t>Giao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diện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trang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Đăng</a:t>
            </a:r>
            <a:r>
              <a:rPr lang="en-US" dirty="0">
                <a:solidFill>
                  <a:srgbClr val="000000"/>
                </a:solidFill>
                <a:sym typeface="Public Sans Bold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Public Sans Bold"/>
              </a:rPr>
              <a:t>nhập</a:t>
            </a:r>
            <a:endParaRPr lang="en-US" dirty="0">
              <a:sym typeface="Public Sans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D39440CF-7585-64C0-0D39-B50B8E8193D0}"/>
              </a:ext>
            </a:extLst>
          </p:cNvPr>
          <p:cNvSpPr/>
          <p:nvPr/>
        </p:nvSpPr>
        <p:spPr>
          <a:xfrm>
            <a:off x="1700912" y="2124642"/>
            <a:ext cx="6376288" cy="5993711"/>
          </a:xfrm>
          <a:custGeom>
            <a:avLst/>
            <a:gdLst/>
            <a:ahLst/>
            <a:cxnLst/>
            <a:rect l="l" t="t" r="r" b="b"/>
            <a:pathLst>
              <a:path w="6376288" h="5993711">
                <a:moveTo>
                  <a:pt x="0" y="0"/>
                </a:moveTo>
                <a:lnTo>
                  <a:pt x="6376289" y="0"/>
                </a:lnTo>
                <a:lnTo>
                  <a:pt x="6376289" y="5993711"/>
                </a:lnTo>
                <a:lnTo>
                  <a:pt x="0" y="5993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66C05892-B1BE-C7A5-4DD3-AEB79C213113}"/>
              </a:ext>
            </a:extLst>
          </p:cNvPr>
          <p:cNvSpPr/>
          <p:nvPr/>
        </p:nvSpPr>
        <p:spPr>
          <a:xfrm>
            <a:off x="11024488" y="2124642"/>
            <a:ext cx="5309403" cy="5720529"/>
          </a:xfrm>
          <a:custGeom>
            <a:avLst/>
            <a:gdLst/>
            <a:ahLst/>
            <a:cxnLst/>
            <a:rect l="l" t="t" r="r" b="b"/>
            <a:pathLst>
              <a:path w="5309403" h="5720529">
                <a:moveTo>
                  <a:pt x="0" y="0"/>
                </a:moveTo>
                <a:lnTo>
                  <a:pt x="5309402" y="0"/>
                </a:lnTo>
                <a:lnTo>
                  <a:pt x="5309402" y="5720529"/>
                </a:lnTo>
                <a:lnTo>
                  <a:pt x="0" y="5720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261295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9424-03D7-CFA8-B852-77DA6FB6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013388-3DCF-3C3D-D795-135B4C9297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53D31-4B27-18F0-695E-BB563AF4CA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vi-VN" sz="2400" dirty="0">
                <a:latin typeface="Thang Long Sans" pitchFamily="50" charset="0"/>
                <a:cs typeface="Thang Long Sans" pitchFamily="50" charset="0"/>
              </a:rPr>
              <a:t>3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Kết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luận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và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hướng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phát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triển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A47904A3-0331-42A6-2335-22697379EE51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9220200" cy="8112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400" dirty="0">
                <a:latin typeface="Manrope" pitchFamily="2" charset="0"/>
              </a:rPr>
              <a:t>3</a:t>
            </a:r>
            <a:r>
              <a:rPr lang="en-US" sz="2400" dirty="0">
                <a:latin typeface="Manrope" pitchFamily="2" charset="0"/>
              </a:rPr>
              <a:t>.1. Những </a:t>
            </a:r>
            <a:r>
              <a:rPr lang="en-US" sz="2400" dirty="0" err="1">
                <a:latin typeface="Manrope" pitchFamily="2" charset="0"/>
              </a:rPr>
              <a:t>phần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đã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thực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hiện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được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và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còn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hạn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chế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của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đề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tài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B7719-A6EE-640C-241A-5280506B90C4}"/>
              </a:ext>
            </a:extLst>
          </p:cNvPr>
          <p:cNvSpPr txBox="1"/>
          <p:nvPr/>
        </p:nvSpPr>
        <p:spPr>
          <a:xfrm>
            <a:off x="1287224" y="1801885"/>
            <a:ext cx="4381500" cy="50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9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a)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Đã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thực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hiện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được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C7BA9-7B0D-C56C-67EF-35618B49AF49}"/>
              </a:ext>
            </a:extLst>
          </p:cNvPr>
          <p:cNvSpPr txBox="1"/>
          <p:nvPr/>
        </p:nvSpPr>
        <p:spPr>
          <a:xfrm>
            <a:off x="1244600" y="2442944"/>
            <a:ext cx="13413463" cy="319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Xây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dựng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hệ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thống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quản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lý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sinh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viên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đầy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đủ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chức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năng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cấu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trúc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client-server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Thực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hiện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CRUD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sinh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viên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quản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lý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điểm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với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validate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dữ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liệu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Phân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quyền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ADMIN / USER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bằng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JWT,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bảo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mật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mật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khẩu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bằng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BCrypt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Tự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động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tạo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/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xóa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tài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khoản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USER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khi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thêm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/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xóa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sinh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viên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Tìm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kiếm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sinh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viên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mã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hoặc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tên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-Giao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diện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trực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quan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phân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quyền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hiển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thị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rõ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ràng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role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7C1A6-6DC0-693D-B8D8-41B758AEC6DB}"/>
              </a:ext>
            </a:extLst>
          </p:cNvPr>
          <p:cNvSpPr txBox="1"/>
          <p:nvPr/>
        </p:nvSpPr>
        <p:spPr>
          <a:xfrm>
            <a:off x="1287224" y="5747262"/>
            <a:ext cx="1775460" cy="102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b)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Hạn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chế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 Bold"/>
                <a:cs typeface="Public Sans Bold"/>
                <a:sym typeface="Public Sans Bold"/>
              </a:rPr>
              <a:t>:</a:t>
            </a:r>
          </a:p>
          <a:p>
            <a:pPr>
              <a:lnSpc>
                <a:spcPts val="419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Manrope" pitchFamily="2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72C6AF-F6D8-4A81-264B-3095E029B1AD}"/>
              </a:ext>
            </a:extLst>
          </p:cNvPr>
          <p:cNvSpPr txBox="1"/>
          <p:nvPr/>
        </p:nvSpPr>
        <p:spPr>
          <a:xfrm>
            <a:off x="1219200" y="6393802"/>
            <a:ext cx="8848249" cy="211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Chưa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có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phân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trang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khi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danh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sách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sinh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viên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lớn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Chưa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có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Refresh Token,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hết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24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giờ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phải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đăng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nhập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lại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Chưa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xuất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báo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cáo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ra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file Excel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hoặc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PDF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Chưa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viết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unit test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backend</a:t>
            </a:r>
          </a:p>
        </p:txBody>
      </p:sp>
    </p:spTree>
    <p:extLst>
      <p:ext uri="{BB962C8B-B14F-4D97-AF65-F5344CB8AC3E}">
        <p14:creationId xmlns:p14="http://schemas.microsoft.com/office/powerpoint/2010/main" val="3279267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F6AA-18DC-F1B3-07DA-6F34E656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4C642A-0383-5930-D0BD-B591548376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03431-DBCA-432E-C6C5-361421408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796" y="674630"/>
            <a:ext cx="5289404" cy="811270"/>
          </a:xfrm>
        </p:spPr>
        <p:txBody>
          <a:bodyPr>
            <a:normAutofit/>
          </a:bodyPr>
          <a:lstStyle/>
          <a:p>
            <a:r>
              <a:rPr lang="vi-VN" sz="2400" dirty="0">
                <a:latin typeface="Thang Long Sans" pitchFamily="50" charset="0"/>
                <a:cs typeface="Thang Long Sans" pitchFamily="50" charset="0"/>
              </a:rPr>
              <a:t>3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.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Kết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luận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và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hướng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phát</a:t>
            </a:r>
            <a:r>
              <a:rPr lang="en-US" sz="2400" dirty="0">
                <a:latin typeface="Thang Long Sans" pitchFamily="50" charset="0"/>
                <a:cs typeface="Thang Long Sans" pitchFamily="50" charset="0"/>
              </a:rPr>
              <a:t> </a:t>
            </a:r>
            <a:r>
              <a:rPr lang="en-US" sz="2400" dirty="0" err="1">
                <a:latin typeface="Thang Long Sans" pitchFamily="50" charset="0"/>
                <a:cs typeface="Thang Long Sans" pitchFamily="50" charset="0"/>
              </a:rPr>
              <a:t>triển</a:t>
            </a:r>
            <a:endParaRPr lang="en-US" sz="2400" dirty="0">
              <a:latin typeface="Thang Long Sans" pitchFamily="50" charset="0"/>
              <a:cs typeface="Thang Long Sans" pitchFamily="50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BFBDAD7-5420-F4DF-DB16-AF1475D2A163}"/>
              </a:ext>
            </a:extLst>
          </p:cNvPr>
          <p:cNvSpPr txBox="1">
            <a:spLocks/>
          </p:cNvSpPr>
          <p:nvPr/>
        </p:nvSpPr>
        <p:spPr>
          <a:xfrm>
            <a:off x="1219200" y="1276350"/>
            <a:ext cx="9220200" cy="8112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350" b="1" kern="1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400" dirty="0">
                <a:latin typeface="Manrope" pitchFamily="2" charset="0"/>
              </a:rPr>
              <a:t>3</a:t>
            </a:r>
            <a:r>
              <a:rPr lang="en-US" sz="2400" dirty="0">
                <a:latin typeface="Manrope" pitchFamily="2" charset="0"/>
              </a:rPr>
              <a:t>.</a:t>
            </a:r>
            <a:r>
              <a:rPr lang="vi-VN" sz="2400" dirty="0">
                <a:latin typeface="Manrope" pitchFamily="2" charset="0"/>
              </a:rPr>
              <a:t>2.</a:t>
            </a:r>
            <a:r>
              <a:rPr lang="en-US" sz="2400" dirty="0">
                <a:latin typeface="Manrope" pitchFamily="2" charset="0"/>
              </a:rPr>
              <a:t> Những </a:t>
            </a:r>
            <a:r>
              <a:rPr lang="en-US" sz="2400" dirty="0" err="1">
                <a:latin typeface="Manrope" pitchFamily="2" charset="0"/>
              </a:rPr>
              <a:t>phần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đã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thực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hiện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được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và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còn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hạn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chế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của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đề</a:t>
            </a:r>
            <a:r>
              <a:rPr lang="en-US" sz="2400" dirty="0">
                <a:latin typeface="Manrope" pitchFamily="2" charset="0"/>
              </a:rPr>
              <a:t> </a:t>
            </a:r>
            <a:r>
              <a:rPr lang="en-US" sz="2400" dirty="0" err="1">
                <a:latin typeface="Manrope" pitchFamily="2" charset="0"/>
              </a:rPr>
              <a:t>tài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A9526-07E4-1DEF-C949-72DB22C642FA}"/>
              </a:ext>
            </a:extLst>
          </p:cNvPr>
          <p:cNvSpPr txBox="1"/>
          <p:nvPr/>
        </p:nvSpPr>
        <p:spPr>
          <a:xfrm>
            <a:off x="1287224" y="1801885"/>
            <a:ext cx="14486176" cy="1080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99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Mong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muốn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đề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tài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có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thể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được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đưa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vào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sử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dụng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và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được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ứng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dụng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rộng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rãi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vì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vậy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nên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trong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tương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lai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đề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tài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vẫn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cần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phát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triển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thêm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để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hoàn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thiện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hơn</a:t>
            </a:r>
            <a:r>
              <a:rPr lang="en-US" sz="2400" b="1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10D435A-6BB3-B90F-6193-2B4F31AFEC7A}"/>
              </a:ext>
            </a:extLst>
          </p:cNvPr>
          <p:cNvSpPr txBox="1"/>
          <p:nvPr/>
        </p:nvSpPr>
        <p:spPr>
          <a:xfrm>
            <a:off x="1447800" y="3023590"/>
            <a:ext cx="11969830" cy="284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Thêm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phân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trang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lọc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nâng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cao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lớp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ngành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học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kỳ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Triển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khai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Refresh Token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nâng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cao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trải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nghiệm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người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dùng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Xuất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danh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sách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sinh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viên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bảng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điểm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ra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Excel / PDF</a:t>
            </a:r>
          </a:p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Mở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rộng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quản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lý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học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kỳ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môn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học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giờ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học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theo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chương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trình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đào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tạo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49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Thêm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biểu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đồ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thống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kê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điểm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trung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bình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xếp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loại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học</a:t>
            </a:r>
            <a:r>
              <a:rPr lang="en-US" sz="2400" dirty="0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anrope" pitchFamily="2" charset="0"/>
                <a:ea typeface="Public Sans"/>
                <a:cs typeface="Public Sans"/>
                <a:sym typeface="Public Sans"/>
              </a:rPr>
              <a:t>lực</a:t>
            </a:r>
            <a:endParaRPr lang="en-US" sz="2400" dirty="0">
              <a:solidFill>
                <a:srgbClr val="000000"/>
              </a:solidFill>
              <a:latin typeface="Manrope" pitchFamily="2" charset="0"/>
              <a:ea typeface="Public Sans"/>
              <a:cs typeface="Public Sans"/>
              <a:sym typeface="Public Sans"/>
            </a:endParaRPr>
          </a:p>
        </p:txBody>
      </p:sp>
    </p:spTree>
    <p:extLst>
      <p:ext uri="{BB962C8B-B14F-4D97-AF65-F5344CB8AC3E}">
        <p14:creationId xmlns:p14="http://schemas.microsoft.com/office/powerpoint/2010/main" val="155614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B39656-534B-349C-16B3-2F15CC0D7937}"/>
              </a:ext>
            </a:extLst>
          </p:cNvPr>
          <p:cNvSpPr/>
          <p:nvPr/>
        </p:nvSpPr>
        <p:spPr>
          <a:xfrm>
            <a:off x="0" y="342900"/>
            <a:ext cx="13639800" cy="8991600"/>
          </a:xfrm>
          <a:prstGeom prst="rect">
            <a:avLst/>
          </a:prstGeom>
          <a:solidFill>
            <a:srgbClr val="004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5AD669-3FA0-446A-9B10-7579180CE8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AC842-0734-4C7E-B652-9A9EDB57AF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71800" y="3310645"/>
            <a:ext cx="8702603" cy="3665710"/>
          </a:xfrm>
        </p:spPr>
        <p:txBody>
          <a:bodyPr>
            <a:normAutofit/>
          </a:bodyPr>
          <a:lstStyle/>
          <a:p>
            <a:r>
              <a:rPr lang="vi-VN" dirty="0">
                <a:latin typeface="Thang Long Sans" pitchFamily="50" charset="0"/>
                <a:cs typeface="Thang Long Sans" pitchFamily="50" charset="0"/>
              </a:rPr>
              <a:t> Xin chân thành</a:t>
            </a:r>
          </a:p>
          <a:p>
            <a:r>
              <a:rPr lang="vi-VN" dirty="0">
                <a:latin typeface="Thang Long Sans" pitchFamily="50" charset="0"/>
                <a:cs typeface="Thang Long Sans" pitchFamily="50" charset="0"/>
              </a:rPr>
              <a:t> cảm ơn thầy và</a:t>
            </a:r>
          </a:p>
          <a:p>
            <a:r>
              <a:rPr lang="vi-VN" dirty="0">
                <a:latin typeface="Thang Long Sans" pitchFamily="50" charset="0"/>
                <a:cs typeface="Thang Long Sans" pitchFamily="50" charset="0"/>
              </a:rPr>
              <a:t> các bạn đã lắng</a:t>
            </a:r>
          </a:p>
          <a:p>
            <a:r>
              <a:rPr lang="vi-VN" dirty="0">
                <a:latin typeface="Thang Long Sans" pitchFamily="50" charset="0"/>
                <a:cs typeface="Thang Long Sans" pitchFamily="50" charset="0"/>
              </a:rPr>
              <a:t> nghe</a:t>
            </a:r>
            <a:endParaRPr lang="en-US" dirty="0">
              <a:latin typeface="Thang Long Sans" pitchFamily="50" charset="0"/>
              <a:cs typeface="Thang Long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216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1490</Words>
  <Application>Microsoft Office PowerPoint</Application>
  <PresentationFormat>Custom</PresentationFormat>
  <Paragraphs>135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Manrope</vt:lpstr>
      <vt:lpstr>Public Sans Bold</vt:lpstr>
      <vt:lpstr>Calibri</vt:lpstr>
      <vt:lpstr>Thang Long Sans</vt:lpstr>
      <vt:lpstr>Arial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PC</dc:creator>
  <cp:lastModifiedBy>2571010160 Nguyễn Đức Duy</cp:lastModifiedBy>
  <cp:revision>5</cp:revision>
  <dcterms:created xsi:type="dcterms:W3CDTF">2006-08-16T00:00:00Z</dcterms:created>
  <dcterms:modified xsi:type="dcterms:W3CDTF">2026-05-29T03:58:55Z</dcterms:modified>
  <dc:identifier>DAHK9W1nC2w</dc:identifier>
</cp:coreProperties>
</file>